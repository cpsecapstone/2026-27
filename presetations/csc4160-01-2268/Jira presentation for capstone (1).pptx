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9" r:id="rId4"/>
    <p:sldMasterId id="214748374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Figtree"/>
      <p:regular r:id="rId21"/>
      <p:bold r:id="rId22"/>
      <p:italic r:id="rId23"/>
      <p:boldItalic r:id="rId24"/>
    </p:embeddedFont>
    <p:embeddedFont>
      <p:font typeface="Jost Light"/>
      <p:regular r:id="rId25"/>
      <p:bold r:id="rId26"/>
      <p:italic r:id="rId27"/>
      <p:boldItalic r:id="rId28"/>
    </p:embeddedFont>
    <p:embeddedFont>
      <p:font typeface="Hanken Grotesk Medium"/>
      <p:regular r:id="rId29"/>
      <p:bold r:id="rId30"/>
      <p:italic r:id="rId31"/>
      <p:boldItalic r:id="rId32"/>
    </p:embeddedFont>
    <p:embeddedFont>
      <p:font typeface="Neuton Light"/>
      <p:regular r:id="rId33"/>
      <p:bold r:id="rId34"/>
      <p:boldItalic r:id="rId35"/>
    </p:embeddedFont>
    <p:embeddedFont>
      <p:font typeface="Hanken Grotesk"/>
      <p:regular r:id="rId36"/>
      <p:bold r:id="rId37"/>
      <p:italic r:id="rId38"/>
      <p:boldItalic r:id="rId39"/>
    </p:embeddedFont>
    <p:embeddedFont>
      <p:font typeface="Hanken Grotesk SemiBold"/>
      <p:regular r:id="rId40"/>
      <p:bold r:id="rId41"/>
      <p:italic r:id="rId42"/>
      <p:boldItalic r:id="rId43"/>
    </p:embeddedFont>
    <p:embeddedFont>
      <p:font typeface="Figtree Light"/>
      <p:regular r:id="rId44"/>
      <p:bold r:id="rId45"/>
      <p:italic r:id="rId46"/>
      <p:boldItalic r:id="rId47"/>
    </p:embeddedFont>
    <p:embeddedFont>
      <p:font typeface="Jost"/>
      <p:regular r:id="rId48"/>
      <p:bold r:id="rId49"/>
      <p:italic r:id="rId50"/>
      <p:boldItalic r:id="rId51"/>
    </p:embeddedFont>
    <p:embeddedFont>
      <p:font typeface="Neuton"/>
      <p:regular r:id="rId52"/>
      <p:bold r:id="rId53"/>
      <p:italic r:id="rId54"/>
    </p:embeddedFont>
    <p:embeddedFont>
      <p:font typeface="Hanken Grotesk Light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ankenGroteskSemiBold-regular.fntdata"/><Relationship Id="rId42" Type="http://schemas.openxmlformats.org/officeDocument/2006/relationships/font" Target="fonts/HankenGroteskSemiBold-italic.fntdata"/><Relationship Id="rId41" Type="http://schemas.openxmlformats.org/officeDocument/2006/relationships/font" Target="fonts/HankenGroteskSemiBold-bold.fntdata"/><Relationship Id="rId44" Type="http://schemas.openxmlformats.org/officeDocument/2006/relationships/font" Target="fonts/FigtreeLight-regular.fntdata"/><Relationship Id="rId43" Type="http://schemas.openxmlformats.org/officeDocument/2006/relationships/font" Target="fonts/HankenGroteskSemiBold-boldItalic.fntdata"/><Relationship Id="rId46" Type="http://schemas.openxmlformats.org/officeDocument/2006/relationships/font" Target="fonts/FigtreeLight-italic.fntdata"/><Relationship Id="rId45" Type="http://schemas.openxmlformats.org/officeDocument/2006/relationships/font" Target="fonts/FigtreeLight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Jost-regular.fntdata"/><Relationship Id="rId47" Type="http://schemas.openxmlformats.org/officeDocument/2006/relationships/font" Target="fonts/FigtreeLight-boldItalic.fntdata"/><Relationship Id="rId49" Type="http://schemas.openxmlformats.org/officeDocument/2006/relationships/font" Target="fonts/Jos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ankenGroteskMedium-italic.fntdata"/><Relationship Id="rId30" Type="http://schemas.openxmlformats.org/officeDocument/2006/relationships/font" Target="fonts/HankenGroteskMedium-bold.fntdata"/><Relationship Id="rId33" Type="http://schemas.openxmlformats.org/officeDocument/2006/relationships/font" Target="fonts/NeutonLight-regular.fntdata"/><Relationship Id="rId32" Type="http://schemas.openxmlformats.org/officeDocument/2006/relationships/font" Target="fonts/HankenGroteskMedium-boldItalic.fntdata"/><Relationship Id="rId35" Type="http://schemas.openxmlformats.org/officeDocument/2006/relationships/font" Target="fonts/NeutonLight-boldItalic.fntdata"/><Relationship Id="rId34" Type="http://schemas.openxmlformats.org/officeDocument/2006/relationships/font" Target="fonts/NeutonLight-bold.fntdata"/><Relationship Id="rId37" Type="http://schemas.openxmlformats.org/officeDocument/2006/relationships/font" Target="fonts/HankenGrotesk-bold.fntdata"/><Relationship Id="rId36" Type="http://schemas.openxmlformats.org/officeDocument/2006/relationships/font" Target="fonts/HankenGrotesk-regular.fntdata"/><Relationship Id="rId39" Type="http://schemas.openxmlformats.org/officeDocument/2006/relationships/font" Target="fonts/HankenGrotesk-boldItalic.fntdata"/><Relationship Id="rId38" Type="http://schemas.openxmlformats.org/officeDocument/2006/relationships/font" Target="fonts/HankenGrotesk-italic.fntdata"/><Relationship Id="rId20" Type="http://schemas.openxmlformats.org/officeDocument/2006/relationships/slide" Target="slides/slide14.xml"/><Relationship Id="rId22" Type="http://schemas.openxmlformats.org/officeDocument/2006/relationships/font" Target="fonts/Figtree-bold.fntdata"/><Relationship Id="rId21" Type="http://schemas.openxmlformats.org/officeDocument/2006/relationships/font" Target="fonts/Figtree-regular.fntdata"/><Relationship Id="rId24" Type="http://schemas.openxmlformats.org/officeDocument/2006/relationships/font" Target="fonts/Figtree-boldItalic.fntdata"/><Relationship Id="rId23" Type="http://schemas.openxmlformats.org/officeDocument/2006/relationships/font" Target="fonts/Figtree-italic.fntdata"/><Relationship Id="rId26" Type="http://schemas.openxmlformats.org/officeDocument/2006/relationships/font" Target="fonts/JostLight-bold.fntdata"/><Relationship Id="rId25" Type="http://schemas.openxmlformats.org/officeDocument/2006/relationships/font" Target="fonts/JostLight-regular.fntdata"/><Relationship Id="rId28" Type="http://schemas.openxmlformats.org/officeDocument/2006/relationships/font" Target="fonts/JostLight-boldItalic.fntdata"/><Relationship Id="rId27" Type="http://schemas.openxmlformats.org/officeDocument/2006/relationships/font" Target="fonts/JostLight-italic.fntdata"/><Relationship Id="rId29" Type="http://schemas.openxmlformats.org/officeDocument/2006/relationships/font" Target="fonts/HankenGroteskMedium-regular.fntdata"/><Relationship Id="rId51" Type="http://schemas.openxmlformats.org/officeDocument/2006/relationships/font" Target="fonts/Jost-boldItalic.fntdata"/><Relationship Id="rId50" Type="http://schemas.openxmlformats.org/officeDocument/2006/relationships/font" Target="fonts/Jost-italic.fntdata"/><Relationship Id="rId53" Type="http://schemas.openxmlformats.org/officeDocument/2006/relationships/font" Target="fonts/Neuton-bold.fntdata"/><Relationship Id="rId52" Type="http://schemas.openxmlformats.org/officeDocument/2006/relationships/font" Target="fonts/Neuton-regular.fntdata"/><Relationship Id="rId11" Type="http://schemas.openxmlformats.org/officeDocument/2006/relationships/slide" Target="slides/slide5.xml"/><Relationship Id="rId55" Type="http://schemas.openxmlformats.org/officeDocument/2006/relationships/font" Target="fonts/HankenGroteskLight-regular.fntdata"/><Relationship Id="rId10" Type="http://schemas.openxmlformats.org/officeDocument/2006/relationships/slide" Target="slides/slide4.xml"/><Relationship Id="rId54" Type="http://schemas.openxmlformats.org/officeDocument/2006/relationships/font" Target="fonts/Neuton-italic.fntdata"/><Relationship Id="rId13" Type="http://schemas.openxmlformats.org/officeDocument/2006/relationships/slide" Target="slides/slide7.xml"/><Relationship Id="rId57" Type="http://schemas.openxmlformats.org/officeDocument/2006/relationships/font" Target="fonts/HankenGroteskLight-italic.fntdata"/><Relationship Id="rId12" Type="http://schemas.openxmlformats.org/officeDocument/2006/relationships/slide" Target="slides/slide6.xml"/><Relationship Id="rId56" Type="http://schemas.openxmlformats.org/officeDocument/2006/relationships/font" Target="fonts/HankenGroteskLight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HankenGroteskLigh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409d1df6f31_0_1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409d1df6f31_0_1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409d1df6f31_0_1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409d1df6f31_0_1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409d1df6f31_0_1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409d1df6f31_0_1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409d1df6f31_0_2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409d1df6f31_0_2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fb5d45219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3fb5d45219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fb5d45219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3fb5d45219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fb3cec8ff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3fb3cec8ff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fb5d45219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3fb5d45219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fb3cec8ff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fb3cec8ff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409d1df6f31_0_1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409d1df6f31_0_1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fb5d45219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3fb5d45219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409d1df6f31_0_2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409d1df6f31_0_2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409d1df6f31_0_2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409d1df6f31_0_2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fb5d45219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3fb5d45219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1" name="Google Shape;41;p4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4" name="Google Shape;64;p5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5" name="Google Shape;65;p5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6" name="Google Shape;66;p5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7" name="Google Shape;67;p5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78" name="Google Shape;78;p7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3" name="Google Shape;83;p8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9" name="Google Shape;89;p8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8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9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9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3" name="Google Shape;10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09" name="Google Shape;109;p10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" name="Google Shape;112;p11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2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9" name="Google Shape;129;p12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0" name="Google Shape;130;p12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3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1" name="Google Shape;141;p13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0" name="Google Shape;150;p14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1" name="Google Shape;151;p14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57" name="Google Shape;157;p15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0" name="Google Shape;160;p15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2" name="Google Shape;162;p15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3" name="Google Shape;163;p15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5" name="Google Shape;165;p15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6" name="Google Shape;166;p15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5" name="Google Shape;185;p17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17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17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8" name="Google Shape;198;p18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1" name="Google Shape;201;p18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6" name="Google Shape;206;p18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4" name="Google Shape;214;p19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19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6" name="Google Shape;216;p19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19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0" name="Google Shape;220;p19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24" name="Google Shape;224;p20"/>
          <p:cNvPicPr preferRelativeResize="0"/>
          <p:nvPr/>
        </p:nvPicPr>
        <p:blipFill rotWithShape="1">
          <a:blip r:embed="rId2">
            <a:alphaModFix/>
          </a:blip>
          <a:srcRect b="14407" l="0" r="0" t="14414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0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4" name="Google Shape;234;p20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5" name="Google Shape;235;p20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6" name="Google Shape;236;p20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21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4" name="Google Shape;244;p2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21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0" name="Google Shape;250;p21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9" name="Google Shape;259;p22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22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22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65" name="Google Shape;265;p22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6" name="Google Shape;266;p22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8" name="Google Shape;268;p22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0" name="Google Shape;270;p22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4" name="Google Shape;274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5" name="Google Shape;275;p2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1" name="Google Shape;281;p23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4" name="Google Shape;284;p23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2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4" name="Google Shape;294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24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8" name="Google Shape;298;p2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9" name="Google Shape;299;p24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2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2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2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0" name="Google Shape;330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1" name="Google Shape;331;p26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2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" name="Google Shape;33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5" name="Google Shape;385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9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440" name="Google Shape;440;p49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49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42" name="Google Shape;442;p49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43" name="Google Shape;443;p49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49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49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0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448" name="Google Shape;448;p50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449" name="Google Shape;449;p50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450" name="Google Shape;450;p50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451" name="Google Shape;451;p50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452" name="Google Shape;452;p50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453" name="Google Shape;453;p50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454" name="Google Shape;454;p50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455" name="Google Shape;455;p50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456" name="Google Shape;456;p50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457" name="Google Shape;457;p50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458" name="Google Shape;458;p50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459" name="Google Shape;459;p50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460" name="Google Shape;460;p50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461" name="Google Shape;461;p50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462" name="Google Shape;462;p50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463" name="Google Shape;463;p50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464" name="Google Shape;464;p50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465" name="Google Shape;465;p50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466" name="Google Shape;466;p50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467" name="Google Shape;467;p50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0" name="Google Shape;470;p5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1" name="Google Shape;471;p5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2" name="Google Shape;472;p5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51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4" name="Google Shape;474;p51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5" name="Google Shape;475;p51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6" name="Google Shape;476;p51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7" name="Google Shape;477;p51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8" name="Google Shape;478;p51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9" name="Google Shape;479;p51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80" name="Google Shape;480;p51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81" name="Google Shape;481;p51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82" name="Google Shape;482;p51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83" name="Google Shape;483;p51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484" name="Google Shape;484;p51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485" name="Google Shape;485;p51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486" name="Google Shape;486;p51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7" name="Google Shape;487;p51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51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1" name="Google Shape;491;p5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2" name="Google Shape;492;p5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3" name="Google Shape;493;p5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4" name="Google Shape;494;p52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5" name="Google Shape;495;p52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6" name="Google Shape;496;p52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7" name="Google Shape;497;p52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8" name="Google Shape;498;p52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9" name="Google Shape;499;p52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0" name="Google Shape;500;p52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52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2" name="Google Shape;502;p52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3" name="Google Shape;503;p52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4" name="Google Shape;504;p52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5" name="Google Shape;505;p52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6" name="Google Shape;506;p52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7" name="Google Shape;507;p52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8" name="Google Shape;508;p52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52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52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52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52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3" name="Google Shape;513;p52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53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516" name="Google Shape;516;p53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517" name="Google Shape;517;p53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518" name="Google Shape;518;p53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19" name="Google Shape;519;p53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520" name="Google Shape;520;p53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4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523" name="Google Shape;523;p54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5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25" name="Google Shape;525;p54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26" name="Google Shape;526;p54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527" name="Google Shape;527;p54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528" name="Google Shape;528;p54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529" name="Google Shape;529;p54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530" name="Google Shape;530;p54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531" name="Google Shape;531;p54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532" name="Google Shape;532;p54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533" name="Google Shape;533;p54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534" name="Google Shape;534;p54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535" name="Google Shape;535;p54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536" name="Google Shape;536;p54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537" name="Google Shape;537;p54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5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40" name="Google Shape;540;p55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55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542" name="Google Shape;542;p55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43" name="Google Shape;543;p55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4" name="Google Shape;544;p55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545" name="Google Shape;545;p55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46" name="Google Shape;546;p55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7" name="Google Shape;547;p55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6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550" name="Google Shape;550;p56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51" name="Google Shape;551;p56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552" name="Google Shape;552;p56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53" name="Google Shape;553;p56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554" name="Google Shape;554;p56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55" name="Google Shape;555;p56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556" name="Google Shape;556;p56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57" name="Google Shape;557;p56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58" name="Google Shape;558;p56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9" name="Google Shape;559;p56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0" name="Google Shape;560;p56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1" name="Google Shape;561;p56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7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564" name="Google Shape;564;p5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65" name="Google Shape;565;p57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566" name="Google Shape;566;p57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567" name="Google Shape;567;p57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8" name="Google Shape;568;p57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9" name="Google Shape;569;p57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8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72" name="Google Shape;572;p58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73" name="Google Shape;573;p58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74" name="Google Shape;574;p58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75" name="Google Shape;575;p58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76" name="Google Shape;576;p58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77" name="Google Shape;577;p58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78" name="Google Shape;578;p58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79" name="Google Shape;579;p58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80" name="Google Shape;580;p58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81" name="Google Shape;581;p58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82" name="Google Shape;582;p58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83" name="Google Shape;583;p58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84" name="Google Shape;584;p58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85" name="Google Shape;585;p58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6" name="Google Shape;586;p58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7" name="Google Shape;587;p58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8" name="Google Shape;588;p58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9" name="Google Shape;589;p58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90" name="Google Shape;590;p58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1" name="Google Shape;591;p58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2" name="Google Shape;592;p58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3" name="Google Shape;593;p58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4" name="Google Shape;594;p58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5" name="Google Shape;595;p58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9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98" name="Google Shape;598;p59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99" name="Google Shape;599;p59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00" name="Google Shape;600;p59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01" name="Google Shape;601;p59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02" name="Google Shape;602;p59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03" name="Google Shape;603;p59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04" name="Google Shape;604;p59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05" name="Google Shape;605;p59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06" name="Google Shape;606;p59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07" name="Google Shape;607;p59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08" name="Google Shape;608;p59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09" name="Google Shape;609;p59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10" name="Google Shape;610;p59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11" name="Google Shape;611;p59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12" name="Google Shape;612;p59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13" name="Google Shape;613;p59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14" name="Google Shape;614;p59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15" name="Google Shape;615;p59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16" name="Google Shape;616;p59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17" name="Google Shape;617;p5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8" name="Google Shape;618;p59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619" name="Google Shape;619;p59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620" name="Google Shape;620;p59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621" name="Google Shape;621;p59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622" name="Google Shape;622;p59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623" name="Google Shape;623;p59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4" name="Google Shape;624;p59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5" name="Google Shape;625;p59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6" name="Google Shape;626;p59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7" name="Google Shape;627;p59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8" name="Google Shape;628;p59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9" name="Google Shape;629;p59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30" name="Google Shape;630;p59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31" name="Google Shape;631;p59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32" name="Google Shape;632;p59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0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5" name="Google Shape;635;p60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36" name="Google Shape;636;p60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37" name="Google Shape;637;p60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38" name="Google Shape;638;p60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39" name="Google Shape;639;p60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60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60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2" name="Google Shape;642;p60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3" name="Google Shape;643;p60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4" name="Google Shape;644;p60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645" name="Google Shape;645;p60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646" name="Google Shape;646;p60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647" name="Google Shape;647;p60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648" name="Google Shape;648;p60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649" name="Google Shape;649;p60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0" name="Google Shape;650;p60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1" name="Google Shape;651;p60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2" name="Google Shape;652;p60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3" name="Google Shape;653;p60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4" name="Google Shape;654;p60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5" name="Google Shape;655;p60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6" name="Google Shape;656;p60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7" name="Google Shape;657;p60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8" name="Google Shape;658;p60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9" name="Google Shape;659;p60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0" name="Google Shape;660;p60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1" name="Google Shape;661;p60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2" name="Google Shape;662;p60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3" name="Google Shape;663;p60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4" name="Google Shape;664;p60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5" name="Google Shape;665;p60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6" name="Google Shape;666;p60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7" name="Google Shape;667;p60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8" name="Google Shape;668;p60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1" name="Google Shape;671;p61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2" name="Google Shape;672;p61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3" name="Google Shape;673;p61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4" name="Google Shape;674;p61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5" name="Google Shape;675;p61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76" name="Google Shape;676;p61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77" name="Google Shape;677;p61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78" name="Google Shape;678;p61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79" name="Google Shape;679;p61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0" name="Google Shape;680;p61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1" name="Google Shape;681;p61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2" name="Google Shape;682;p61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3" name="Google Shape;683;p61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4" name="Google Shape;684;p61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5" name="Google Shape;685;p61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6" name="Google Shape;686;p61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7" name="Google Shape;687;p61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8" name="Google Shape;688;p61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9" name="Google Shape;689;p61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0" name="Google Shape;690;p61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1" name="Google Shape;691;p61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2" name="Google Shape;692;p61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3" name="Google Shape;693;p61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4" name="Google Shape;694;p61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5" name="Google Shape;695;p61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6" name="Google Shape;696;p61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697" name="Google Shape;697;p61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698" name="Google Shape;698;p61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699" name="Google Shape;699;p61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700" name="Google Shape;700;p61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701" name="Google Shape;701;p61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2" name="Google Shape;702;p61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3" name="Google Shape;703;p61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4" name="Google Shape;704;p61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7" name="Google Shape;707;p6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08" name="Google Shape;708;p62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09" name="Google Shape;709;p62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10" name="Google Shape;710;p62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11" name="Google Shape;711;p62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712" name="Google Shape;712;p62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13" name="Google Shape;713;p62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14" name="Google Shape;714;p62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15" name="Google Shape;715;p62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16" name="Google Shape;716;p62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17" name="Google Shape;717;p62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18" name="Google Shape;718;p62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19" name="Google Shape;719;p62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20" name="Google Shape;720;p62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21" name="Google Shape;721;p62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22" name="Google Shape;722;p62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62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4" name="Google Shape;724;p62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25" name="Google Shape;725;p62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26" name="Google Shape;726;p62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27" name="Google Shape;727;p62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28" name="Google Shape;728;p62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29" name="Google Shape;729;p62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30" name="Google Shape;730;p62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31" name="Google Shape;731;p62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32" name="Google Shape;732;p62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33" name="Google Shape;733;p62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34" name="Google Shape;734;p62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35" name="Google Shape;735;p62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36" name="Google Shape;736;p62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37" name="Google Shape;737;p62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38" name="Google Shape;738;p62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39" name="Google Shape;739;p62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40" name="Google Shape;740;p62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41" name="Google Shape;741;p62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42" name="Google Shape;742;p62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43" name="Google Shape;743;p62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46" name="Google Shape;746;p63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47" name="Google Shape;747;p63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48" name="Google Shape;748;p63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49" name="Google Shape;749;p63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50" name="Google Shape;750;p63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51" name="Google Shape;751;p63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52" name="Google Shape;752;p63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53" name="Google Shape;753;p63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54" name="Google Shape;754;p63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55" name="Google Shape;755;p63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6" name="Google Shape;756;p63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7" name="Google Shape;757;p63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8" name="Google Shape;758;p63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9" name="Google Shape;759;p63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0" name="Google Shape;760;p63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1" name="Google Shape;761;p63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2" name="Google Shape;762;p63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3" name="Google Shape;763;p63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4" name="Google Shape;764;p63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5" name="Google Shape;765;p63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766" name="Google Shape;766;p63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767" name="Google Shape;767;p63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768" name="Google Shape;768;p63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769" name="Google Shape;769;p63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770" name="Google Shape;770;p63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71" name="Google Shape;771;p63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2" name="Google Shape;772;p63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3" name="Google Shape;773;p63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4" name="Google Shape;774;p63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5" name="Google Shape;775;p63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78" name="Google Shape;778;p64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779" name="Google Shape;779;p64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80" name="Google Shape;780;p64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81" name="Google Shape;781;p64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82" name="Google Shape;782;p64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83" name="Google Shape;783;p64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84" name="Google Shape;784;p64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85" name="Google Shape;785;p64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86" name="Google Shape;786;p64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87" name="Google Shape;787;p64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88" name="Google Shape;788;p64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89" name="Google Shape;789;p64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p64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64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92" name="Google Shape;792;p64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93" name="Google Shape;793;p64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94" name="Google Shape;794;p64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95" name="Google Shape;795;p64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96" name="Google Shape;796;p64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97" name="Google Shape;797;p64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98" name="Google Shape;798;p64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99" name="Google Shape;799;p64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800" name="Google Shape;800;p64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5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3" name="Google Shape;803;p65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4" name="Google Shape;804;p65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5" name="Google Shape;805;p65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6" name="Google Shape;806;p65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7" name="Google Shape;807;p65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8" name="Google Shape;808;p65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9" name="Google Shape;809;p65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0" name="Google Shape;810;p65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811" name="Google Shape;811;p65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12" name="Google Shape;812;p65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813" name="Google Shape;813;p65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814" name="Google Shape;814;p65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815" name="Google Shape;815;p65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816" name="Google Shape;816;p65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817" name="Google Shape;817;p65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818" name="Google Shape;818;p65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819" name="Google Shape;819;p65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6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22" name="Google Shape;822;p66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823" name="Google Shape;823;p66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4" name="Google Shape;824;p66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25" name="Google Shape;825;p66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6" name="Google Shape;826;p66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27" name="Google Shape;827;p66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8" name="Google Shape;828;p66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29" name="Google Shape;829;p66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0" name="Google Shape;830;p66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1" name="Google Shape;831;p66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6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34" name="Google Shape;834;p6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835" name="Google Shape;835;p67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6" name="Google Shape;836;p67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7" name="Google Shape;837;p67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8" name="Google Shape;838;p67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9" name="Google Shape;839;p67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0" name="Google Shape;840;p67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1" name="Google Shape;841;p67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42" name="Google Shape;842;p67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43" name="Google Shape;843;p67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44" name="Google Shape;844;p67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45" name="Google Shape;845;p67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46" name="Google Shape;846;p67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47" name="Google Shape;847;p67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8" name="Google Shape;848;p67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9" name="Google Shape;849;p67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0" name="Google Shape;850;p67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1" name="Google Shape;851;p67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2" name="Google Shape;852;p67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68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5" name="Google Shape;855;p68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56" name="Google Shape;856;p68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57" name="Google Shape;857;p68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58" name="Google Shape;858;p68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59" name="Google Shape;859;p68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0" name="Google Shape;860;p68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1" name="Google Shape;861;p68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2" name="Google Shape;862;p68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3" name="Google Shape;863;p68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4" name="Google Shape;864;p68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65" name="Google Shape;865;p68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66" name="Google Shape;866;p68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67" name="Google Shape;867;p68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68" name="Google Shape;868;p68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69" name="Google Shape;869;p68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0" name="Google Shape;870;p68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1" name="Google Shape;871;p68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2" name="Google Shape;872;p68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3" name="Google Shape;873;p68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4" name="Google Shape;874;p68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7" name="Google Shape;877;p6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8" name="Google Shape;878;p6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9" name="Google Shape;879;p69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80" name="Google Shape;880;p69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881" name="Google Shape;881;p69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882" name="Google Shape;882;p69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3" name="Google Shape;883;p69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84" name="Google Shape;884;p69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85" name="Google Shape;885;p69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86" name="Google Shape;886;p69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87" name="Google Shape;887;p69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88" name="Google Shape;888;p69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89" name="Google Shape;889;p69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90" name="Google Shape;890;p69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91" name="Google Shape;891;p69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2" name="Google Shape;892;p69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93" name="Google Shape;893;p69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94" name="Google Shape;894;p69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95" name="Google Shape;895;p69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96" name="Google Shape;896;p69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97" name="Google Shape;897;p69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0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00" name="Google Shape;900;p70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901" name="Google Shape;901;p70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902" name="Google Shape;902;p70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3" name="Google Shape;903;p70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06" name="Google Shape;906;p71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907" name="Google Shape;907;p71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908" name="Google Shape;908;p71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9" name="Google Shape;909;p71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2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12" name="Google Shape;912;p72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13" name="Google Shape;913;p72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14" name="Google Shape;914;p72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15" name="Google Shape;915;p72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16" name="Google Shape;916;p72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17" name="Google Shape;917;p72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18" name="Google Shape;918;p72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19" name="Google Shape;919;p72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20" name="Google Shape;920;p72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21" name="Google Shape;921;p72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22" name="Google Shape;922;p72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23" name="Google Shape;923;p72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24" name="Google Shape;924;p72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25" name="Google Shape;925;p72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26" name="Google Shape;926;p7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27" name="Google Shape;927;p72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8" name="Google Shape;928;p72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9" name="Google Shape;929;p72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0" name="Google Shape;930;p72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1" name="Google Shape;931;p72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2" name="Google Shape;932;p72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3" name="Google Shape;933;p72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4" name="Google Shape;934;p72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5" name="Google Shape;935;p72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6" name="Google Shape;936;p72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7" name="Google Shape;937;p72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8" name="Google Shape;938;p72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9" name="Google Shape;939;p72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40" name="Google Shape;940;p72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41" name="Google Shape;941;p72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44" name="Google Shape;944;p7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7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49" name="Google Shape;949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52" name="Google Shape;952;p7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3" name="Google Shape;953;p7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7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8" name="Google Shape;958;p7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7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8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3" name="Google Shape;963;p8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64" name="Google Shape;964;p8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8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8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9" name="Google Shape;969;p8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8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73" name="Google Shape;973;p8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4" name="Google Shape;974;p8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5" name="Google Shape;975;p8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6" name="Google Shape;976;p8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7" name="Google Shape;977;p8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8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81" name="Google Shape;981;p8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2" name="Google Shape;982;p8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85" name="Google Shape;985;p8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6" name="Google Shape;986;p8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7" name="Google Shape;987;p8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8" name="Google Shape;988;p8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8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91" name="Google Shape;991;p8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92" name="Google Shape;992;p8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3" name="Google Shape;993;p8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4" name="Google Shape;994;p8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5" name="Google Shape;995;p8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6" name="Google Shape;996;p8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8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99" name="Google Shape;999;p8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00" name="Google Shape;1000;p8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01" name="Google Shape;1001;p8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02" name="Google Shape;1002;p8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3" name="Google Shape;1003;p8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4" name="Google Shape;1004;p8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5" name="Google Shape;1005;p8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6" name="Google Shape;1006;p8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009" name="Google Shape;1009;p8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9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2" name="Google Shape;1012;p9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13" name="Google Shape;1013;p9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9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5" name="Google Shape;1015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016" name="Google Shape;1016;p9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17" name="Google Shape;1017;p9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9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0" name="Google Shape;1020;p9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1" name="Google Shape;1021;p9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2" name="Google Shape;1022;p9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3" name="Google Shape;1023;p9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4" name="Google Shape;1024;p9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5" name="Google Shape;1025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026" name="Google Shape;1026;p9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7" name="Google Shape;1027;p9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8" name="Google Shape;1028;p9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9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9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3" name="Google Shape;1033;p9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4" name="Google Shape;1034;p9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5" name="Google Shape;1035;p9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6" name="Google Shape;1036;p9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7" name="Google Shape;1037;p9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8" name="Google Shape;1038;p9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039" name="Google Shape;1039;p9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0" name="Google Shape;1040;p9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1" name="Google Shape;1041;p9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3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66.xml"/><Relationship Id="rId42" Type="http://schemas.openxmlformats.org/officeDocument/2006/relationships/slideLayout" Target="../slideLayouts/slideLayout88.xml"/><Relationship Id="rId4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68.xml"/><Relationship Id="rId44" Type="http://schemas.openxmlformats.org/officeDocument/2006/relationships/slideLayout" Target="../slideLayouts/slideLayout90.xml"/><Relationship Id="rId21" Type="http://schemas.openxmlformats.org/officeDocument/2006/relationships/slideLayout" Target="../slideLayouts/slideLayout67.xml"/><Relationship Id="rId43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70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69.xml"/><Relationship Id="rId45" Type="http://schemas.openxmlformats.org/officeDocument/2006/relationships/slideLayout" Target="../slideLayouts/slideLayout91.xml"/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3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75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59.xml"/><Relationship Id="rId35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58.xml"/><Relationship Id="rId3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61.xml"/><Relationship Id="rId37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60.xml"/><Relationship Id="rId3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63.xml"/><Relationship Id="rId39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62.xml"/><Relationship Id="rId3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436" name="Google Shape;43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37" name="Google Shape;43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  <p:sldLayoutId id="2147483728" r:id="rId35"/>
    <p:sldLayoutId id="2147483729" r:id="rId36"/>
    <p:sldLayoutId id="2147483730" r:id="rId37"/>
    <p:sldLayoutId id="2147483731" r:id="rId38"/>
    <p:sldLayoutId id="2147483732" r:id="rId39"/>
    <p:sldLayoutId id="2147483733" r:id="rId40"/>
    <p:sldLayoutId id="2147483734" r:id="rId41"/>
    <p:sldLayoutId id="2147483735" r:id="rId42"/>
    <p:sldLayoutId id="2147483736" r:id="rId43"/>
    <p:sldLayoutId id="2147483737" r:id="rId44"/>
    <p:sldLayoutId id="2147483738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alpoly-se-capstone.atlassian.net/jira/software/projects/RSC/development?severity=CRITICAL%2CHIGH&amp;sortKey=updated&amp;sortOrder=DESC&amp;tab=CONNECTIONS" TargetMode="External"/><Relationship Id="rId4" Type="http://schemas.openxmlformats.org/officeDocument/2006/relationships/hyperlink" Target="https://ardura.consulting/glossary/jira/" TargetMode="External"/><Relationship Id="rId5" Type="http://schemas.openxmlformats.org/officeDocument/2006/relationships/hyperlink" Target="https://www.atlassian.com/software/jira/feature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9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7" name="Google Shape;1047;p9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8" name="Google Shape;1048;p9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9" name="Google Shape;1049;p9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Jira</a:t>
            </a:r>
            <a:endParaRPr/>
          </a:p>
        </p:txBody>
      </p:sp>
      <p:sp>
        <p:nvSpPr>
          <p:cNvPr id="1050" name="Google Shape;1050;p9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800"/>
              <a:t>By Talia Vivrett</a:t>
            </a:r>
            <a:endParaRPr sz="1800"/>
          </a:p>
        </p:txBody>
      </p:sp>
      <p:sp>
        <p:nvSpPr>
          <p:cNvPr id="1051" name="Google Shape;1051;p9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/>
              <a:t>CSC 4160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95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057" name="Google Shape;1057;p95"/>
          <p:cNvSpPr txBox="1"/>
          <p:nvPr>
            <p:ph idx="1" type="subTitle"/>
          </p:nvPr>
        </p:nvSpPr>
        <p:spPr>
          <a:xfrm>
            <a:off x="1710458" y="27432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Background/History</a:t>
            </a:r>
            <a:endParaRPr/>
          </a:p>
        </p:txBody>
      </p:sp>
      <p:sp>
        <p:nvSpPr>
          <p:cNvPr id="1058" name="Google Shape;1058;p95"/>
          <p:cNvSpPr txBox="1"/>
          <p:nvPr>
            <p:ph idx="3" type="subTitle"/>
          </p:nvPr>
        </p:nvSpPr>
        <p:spPr>
          <a:xfrm>
            <a:off x="1710458" y="114524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Benefits</a:t>
            </a:r>
            <a:endParaRPr/>
          </a:p>
        </p:txBody>
      </p:sp>
      <p:sp>
        <p:nvSpPr>
          <p:cNvPr id="1059" name="Google Shape;1059;p95"/>
          <p:cNvSpPr txBox="1"/>
          <p:nvPr>
            <p:ph idx="5" type="subTitle"/>
          </p:nvPr>
        </p:nvSpPr>
        <p:spPr>
          <a:xfrm>
            <a:off x="1710458" y="205964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Components Explained</a:t>
            </a:r>
            <a:endParaRPr/>
          </a:p>
        </p:txBody>
      </p:sp>
      <p:sp>
        <p:nvSpPr>
          <p:cNvPr id="1060" name="Google Shape;1060;p95"/>
          <p:cNvSpPr txBox="1"/>
          <p:nvPr>
            <p:ph idx="7" type="subTitle"/>
          </p:nvPr>
        </p:nvSpPr>
        <p:spPr>
          <a:xfrm>
            <a:off x="1671850" y="306099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061" name="Google Shape;1061;p95"/>
          <p:cNvSpPr txBox="1"/>
          <p:nvPr>
            <p:ph idx="14" type="subTitle"/>
          </p:nvPr>
        </p:nvSpPr>
        <p:spPr>
          <a:xfrm>
            <a:off x="8440475" y="27432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62" name="Google Shape;1062;p95"/>
          <p:cNvSpPr txBox="1"/>
          <p:nvPr>
            <p:ph idx="15" type="subTitle"/>
          </p:nvPr>
        </p:nvSpPr>
        <p:spPr>
          <a:xfrm>
            <a:off x="8440500" y="118872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63" name="Google Shape;1063;p95"/>
          <p:cNvSpPr txBox="1"/>
          <p:nvPr>
            <p:ph idx="19" type="subTitle"/>
          </p:nvPr>
        </p:nvSpPr>
        <p:spPr>
          <a:xfrm>
            <a:off x="8440500" y="210312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64" name="Google Shape;1064;p95"/>
          <p:cNvSpPr txBox="1"/>
          <p:nvPr>
            <p:ph idx="21" type="subTitle"/>
          </p:nvPr>
        </p:nvSpPr>
        <p:spPr>
          <a:xfrm>
            <a:off x="8440475" y="301752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4</a:t>
            </a:r>
            <a:endParaRPr/>
          </a:p>
        </p:txBody>
      </p:sp>
      <p:cxnSp>
        <p:nvCxnSpPr>
          <p:cNvPr id="1065" name="Google Shape;1065;p95"/>
          <p:cNvCxnSpPr/>
          <p:nvPr/>
        </p:nvCxnSpPr>
        <p:spPr>
          <a:xfrm rot="10800000">
            <a:off x="-2075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p95"/>
          <p:cNvCxnSpPr/>
          <p:nvPr/>
        </p:nvCxnSpPr>
        <p:spPr>
          <a:xfrm rot="10800000">
            <a:off x="53275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p95"/>
          <p:cNvCxnSpPr/>
          <p:nvPr/>
        </p:nvCxnSpPr>
        <p:spPr>
          <a:xfrm rot="10800000">
            <a:off x="-2075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8" name="Google Shape;1068;p95"/>
          <p:cNvCxnSpPr/>
          <p:nvPr/>
        </p:nvCxnSpPr>
        <p:spPr>
          <a:xfrm rot="10800000">
            <a:off x="53275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Google Shape;1073;p96"/>
          <p:cNvGrpSpPr/>
          <p:nvPr/>
        </p:nvGrpSpPr>
        <p:grpSpPr>
          <a:xfrm>
            <a:off x="238136" y="546847"/>
            <a:ext cx="2887381" cy="450006"/>
            <a:chOff x="205180" y="255349"/>
            <a:chExt cx="3948825" cy="616447"/>
          </a:xfrm>
        </p:grpSpPr>
        <p:grpSp>
          <p:nvGrpSpPr>
            <p:cNvPr id="1074" name="Google Shape;1074;p96"/>
            <p:cNvGrpSpPr/>
            <p:nvPr/>
          </p:nvGrpSpPr>
          <p:grpSpPr>
            <a:xfrm>
              <a:off x="205180" y="255349"/>
              <a:ext cx="900000" cy="616447"/>
              <a:chOff x="-1694195" y="1469582"/>
              <a:chExt cx="1440000" cy="981916"/>
            </a:xfrm>
          </p:grpSpPr>
          <p:sp>
            <p:nvSpPr>
              <p:cNvPr id="1075" name="Google Shape;1075;p96"/>
              <p:cNvSpPr/>
              <p:nvPr/>
            </p:nvSpPr>
            <p:spPr>
              <a:xfrm rot="5400000">
                <a:off x="-1417745" y="1287948"/>
                <a:ext cx="887100" cy="1440000"/>
              </a:xfrm>
              <a:prstGeom prst="roundRect">
                <a:avLst>
                  <a:gd fmla="val 5925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pic>
            <p:nvPicPr>
              <p:cNvPr id="1076" name="Google Shape;1076;p96"/>
              <p:cNvPicPr preferRelativeResize="0"/>
              <p:nvPr/>
            </p:nvPicPr>
            <p:blipFill rotWithShape="1">
              <a:blip r:embed="rId3">
                <a:alphaModFix/>
              </a:blip>
              <a:srcRect b="0" l="1699" r="1709" t="0"/>
              <a:stretch/>
            </p:blipFill>
            <p:spPr>
              <a:xfrm>
                <a:off x="-1605961" y="1469582"/>
                <a:ext cx="581984" cy="967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77" name="Google Shape;1077;p96"/>
            <p:cNvGrpSpPr/>
            <p:nvPr/>
          </p:nvGrpSpPr>
          <p:grpSpPr>
            <a:xfrm>
              <a:off x="2237730" y="255361"/>
              <a:ext cx="900000" cy="616326"/>
              <a:chOff x="2237730" y="255361"/>
              <a:chExt cx="900000" cy="616326"/>
            </a:xfrm>
          </p:grpSpPr>
          <p:pic>
            <p:nvPicPr>
              <p:cNvPr id="1078" name="Google Shape;1078;p96"/>
              <p:cNvPicPr preferRelativeResize="0"/>
              <p:nvPr/>
            </p:nvPicPr>
            <p:blipFill rotWithShape="1">
              <a:blip r:embed="rId4">
                <a:alphaModFix/>
              </a:blip>
              <a:srcRect b="0" l="2078" r="2089" t="0"/>
              <a:stretch/>
            </p:blipFill>
            <p:spPr>
              <a:xfrm>
                <a:off x="2292876" y="255361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79" name="Google Shape;1079;p96"/>
              <p:cNvSpPr/>
              <p:nvPr/>
            </p:nvSpPr>
            <p:spPr>
              <a:xfrm rot="5400000">
                <a:off x="2409330" y="143287"/>
                <a:ext cx="556800" cy="900000"/>
              </a:xfrm>
              <a:prstGeom prst="roundRect">
                <a:avLst>
                  <a:gd fmla="val 5925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1080" name="Google Shape;1080;p96"/>
            <p:cNvGrpSpPr/>
            <p:nvPr/>
          </p:nvGrpSpPr>
          <p:grpSpPr>
            <a:xfrm>
              <a:off x="1221455" y="255349"/>
              <a:ext cx="900000" cy="616325"/>
              <a:chOff x="1221455" y="255349"/>
              <a:chExt cx="900000" cy="616325"/>
            </a:xfrm>
          </p:grpSpPr>
          <p:pic>
            <p:nvPicPr>
              <p:cNvPr id="1081" name="Google Shape;1081;p96"/>
              <p:cNvPicPr preferRelativeResize="0"/>
              <p:nvPr/>
            </p:nvPicPr>
            <p:blipFill rotWithShape="1">
              <a:blip r:embed="rId5">
                <a:alphaModFix/>
              </a:blip>
              <a:srcRect b="0" l="1923" r="1912" t="0"/>
              <a:stretch/>
            </p:blipFill>
            <p:spPr>
              <a:xfrm>
                <a:off x="1276601" y="255349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82" name="Google Shape;1082;p96"/>
              <p:cNvSpPr/>
              <p:nvPr/>
            </p:nvSpPr>
            <p:spPr>
              <a:xfrm rot="5400000">
                <a:off x="1393055" y="143274"/>
                <a:ext cx="556800" cy="900000"/>
              </a:xfrm>
              <a:prstGeom prst="roundRect">
                <a:avLst>
                  <a:gd fmla="val 5925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1083" name="Google Shape;1083;p96"/>
            <p:cNvGrpSpPr/>
            <p:nvPr/>
          </p:nvGrpSpPr>
          <p:grpSpPr>
            <a:xfrm>
              <a:off x="3254005" y="255361"/>
              <a:ext cx="900000" cy="616326"/>
              <a:chOff x="3254005" y="255361"/>
              <a:chExt cx="900000" cy="616326"/>
            </a:xfrm>
          </p:grpSpPr>
          <p:sp>
            <p:nvSpPr>
              <p:cNvPr id="1084" name="Google Shape;1084;p96"/>
              <p:cNvSpPr/>
              <p:nvPr/>
            </p:nvSpPr>
            <p:spPr>
              <a:xfrm rot="5400000">
                <a:off x="3425605" y="143287"/>
                <a:ext cx="556800" cy="900000"/>
              </a:xfrm>
              <a:prstGeom prst="roundRect">
                <a:avLst>
                  <a:gd fmla="val 5925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pic>
            <p:nvPicPr>
              <p:cNvPr id="1085" name="Google Shape;1085;p96"/>
              <p:cNvPicPr preferRelativeResize="0"/>
              <p:nvPr/>
            </p:nvPicPr>
            <p:blipFill rotWithShape="1">
              <a:blip r:embed="rId6">
                <a:alphaModFix/>
              </a:blip>
              <a:srcRect b="0" l="1923" r="1912" t="0"/>
              <a:stretch/>
            </p:blipFill>
            <p:spPr>
              <a:xfrm>
                <a:off x="3309151" y="255361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086" name="Google Shape;1086;p96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800"/>
              <a:t>Background</a:t>
            </a:r>
            <a:endParaRPr sz="2800"/>
          </a:p>
        </p:txBody>
      </p:sp>
      <p:sp>
        <p:nvSpPr>
          <p:cNvPr id="1087" name="Google Shape;1087;p96"/>
          <p:cNvSpPr txBox="1"/>
          <p:nvPr>
            <p:ph idx="2" type="title"/>
          </p:nvPr>
        </p:nvSpPr>
        <p:spPr>
          <a:xfrm>
            <a:off x="850" y="1079000"/>
            <a:ext cx="9144000" cy="51435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sz="2400"/>
              <a:t>- An agile product management tool 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sz="2400"/>
              <a:t>- Used for both scrum and kanban methodologies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sz="2400"/>
              <a:t>- Created by Atlassian in 2002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sz="2400"/>
              <a:t>- Originally created as a bug and issue tracking tool for software developers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sz="2400"/>
              <a:t>- Today it is mainly used by software teams to plan, track, and manage work 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" sz="2400"/>
              <a:t>- Also used to organize deployments and production timing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2" name="Google Shape;1092;p97"/>
          <p:cNvGrpSpPr/>
          <p:nvPr/>
        </p:nvGrpSpPr>
        <p:grpSpPr>
          <a:xfrm>
            <a:off x="2391741" y="972138"/>
            <a:ext cx="2156700" cy="3200661"/>
            <a:chOff x="2391741" y="972138"/>
            <a:chExt cx="2156700" cy="3200661"/>
          </a:xfrm>
        </p:grpSpPr>
        <p:sp>
          <p:nvSpPr>
            <p:cNvPr id="1093" name="Google Shape;1093;p97"/>
            <p:cNvSpPr/>
            <p:nvPr/>
          </p:nvSpPr>
          <p:spPr>
            <a:xfrm>
              <a:off x="2391741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94" name="Google Shape;1094;p97"/>
            <p:cNvSpPr/>
            <p:nvPr/>
          </p:nvSpPr>
          <p:spPr>
            <a:xfrm>
              <a:off x="2479025" y="972138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95" name="Google Shape;1095;p97"/>
          <p:cNvGrpSpPr/>
          <p:nvPr/>
        </p:nvGrpSpPr>
        <p:grpSpPr>
          <a:xfrm>
            <a:off x="192897" y="972138"/>
            <a:ext cx="2156700" cy="3200661"/>
            <a:chOff x="192897" y="972138"/>
            <a:chExt cx="2156700" cy="3200661"/>
          </a:xfrm>
        </p:grpSpPr>
        <p:sp>
          <p:nvSpPr>
            <p:cNvPr id="1096" name="Google Shape;1096;p97"/>
            <p:cNvSpPr/>
            <p:nvPr/>
          </p:nvSpPr>
          <p:spPr>
            <a:xfrm>
              <a:off x="192897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97" name="Google Shape;1097;p97"/>
            <p:cNvSpPr/>
            <p:nvPr/>
          </p:nvSpPr>
          <p:spPr>
            <a:xfrm>
              <a:off x="286050" y="972138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98" name="Google Shape;1098;p97"/>
          <p:cNvGrpSpPr/>
          <p:nvPr/>
        </p:nvGrpSpPr>
        <p:grpSpPr>
          <a:xfrm>
            <a:off x="4589494" y="972125"/>
            <a:ext cx="2156700" cy="3200674"/>
            <a:chOff x="4589494" y="972125"/>
            <a:chExt cx="2156700" cy="3200674"/>
          </a:xfrm>
        </p:grpSpPr>
        <p:sp>
          <p:nvSpPr>
            <p:cNvPr id="1099" name="Google Shape;1099;p97"/>
            <p:cNvSpPr/>
            <p:nvPr/>
          </p:nvSpPr>
          <p:spPr>
            <a:xfrm>
              <a:off x="4589494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100" name="Google Shape;1100;p97"/>
            <p:cNvSpPr/>
            <p:nvPr/>
          </p:nvSpPr>
          <p:spPr>
            <a:xfrm>
              <a:off x="4677738" y="972125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101" name="Google Shape;1101;p97"/>
          <p:cNvGrpSpPr/>
          <p:nvPr/>
        </p:nvGrpSpPr>
        <p:grpSpPr>
          <a:xfrm>
            <a:off x="6788922" y="972138"/>
            <a:ext cx="2156700" cy="3200661"/>
            <a:chOff x="192897" y="972138"/>
            <a:chExt cx="2156700" cy="3200661"/>
          </a:xfrm>
        </p:grpSpPr>
        <p:sp>
          <p:nvSpPr>
            <p:cNvPr id="1102" name="Google Shape;1102;p97"/>
            <p:cNvSpPr/>
            <p:nvPr/>
          </p:nvSpPr>
          <p:spPr>
            <a:xfrm>
              <a:off x="192897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103" name="Google Shape;1103;p97"/>
            <p:cNvSpPr/>
            <p:nvPr/>
          </p:nvSpPr>
          <p:spPr>
            <a:xfrm>
              <a:off x="286050" y="972138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104" name="Google Shape;1104;p97"/>
          <p:cNvSpPr txBox="1"/>
          <p:nvPr>
            <p:ph idx="9" type="body"/>
          </p:nvPr>
        </p:nvSpPr>
        <p:spPr>
          <a:xfrm>
            <a:off x="0" y="2036325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Scrum + kanban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Board management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Sprint planning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Backlogs</a:t>
            </a:r>
            <a:endParaRPr sz="1500"/>
          </a:p>
        </p:txBody>
      </p:sp>
      <p:sp>
        <p:nvSpPr>
          <p:cNvPr id="1105" name="Google Shape;1105;p97"/>
          <p:cNvSpPr txBox="1"/>
          <p:nvPr>
            <p:ph idx="14" type="body"/>
          </p:nvPr>
        </p:nvSpPr>
        <p:spPr>
          <a:xfrm>
            <a:off x="4398988" y="2036325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Burndown charts for each sprint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Velocity charts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Status tracking </a:t>
            </a:r>
            <a:endParaRPr sz="1500"/>
          </a:p>
        </p:txBody>
      </p:sp>
      <p:sp>
        <p:nvSpPr>
          <p:cNvPr id="1106" name="Google Shape;1106;p97"/>
          <p:cNvSpPr txBox="1"/>
          <p:nvPr>
            <p:ph idx="15" type="body"/>
          </p:nvPr>
        </p:nvSpPr>
        <p:spPr>
          <a:xfrm>
            <a:off x="6598500" y="2036325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Github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Slack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Confluence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Etc.</a:t>
            </a:r>
            <a:endParaRPr sz="1500"/>
          </a:p>
        </p:txBody>
      </p:sp>
      <p:sp>
        <p:nvSpPr>
          <p:cNvPr id="1107" name="Google Shape;1107;p9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800"/>
              <a:t>Benefits</a:t>
            </a:r>
            <a:endParaRPr sz="3100"/>
          </a:p>
        </p:txBody>
      </p:sp>
      <p:sp>
        <p:nvSpPr>
          <p:cNvPr id="1108" name="Google Shape;1108;p97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Agile PM</a:t>
            </a:r>
            <a:endParaRPr/>
          </a:p>
        </p:txBody>
      </p:sp>
      <p:sp>
        <p:nvSpPr>
          <p:cNvPr id="1109" name="Google Shape;1109;p97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Tracking</a:t>
            </a:r>
            <a:endParaRPr/>
          </a:p>
        </p:txBody>
      </p:sp>
      <p:sp>
        <p:nvSpPr>
          <p:cNvPr id="1110" name="Google Shape;1110;p97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Analytics</a:t>
            </a:r>
            <a:endParaRPr/>
          </a:p>
        </p:txBody>
      </p:sp>
      <p:sp>
        <p:nvSpPr>
          <p:cNvPr id="1111" name="Google Shape;1111;p97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Integration</a:t>
            </a:r>
            <a:endParaRPr/>
          </a:p>
        </p:txBody>
      </p:sp>
      <p:sp>
        <p:nvSpPr>
          <p:cNvPr id="1112" name="Google Shape;1112;p97"/>
          <p:cNvSpPr txBox="1"/>
          <p:nvPr>
            <p:ph idx="9" type="body"/>
          </p:nvPr>
        </p:nvSpPr>
        <p:spPr>
          <a:xfrm>
            <a:off x="2199500" y="2036325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Bugs &amp; issues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Allows prioritization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Task creation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98"/>
          <p:cNvSpPr/>
          <p:nvPr/>
        </p:nvSpPr>
        <p:spPr>
          <a:xfrm rot="5400000">
            <a:off x="2455325" y="-1537675"/>
            <a:ext cx="4386300" cy="85821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18" name="Google Shape;1118;p98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98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8"/>
          <p:cNvSpPr txBox="1"/>
          <p:nvPr>
            <p:ph idx="5" type="subTitle"/>
          </p:nvPr>
        </p:nvSpPr>
        <p:spPr>
          <a:xfrm>
            <a:off x="594025" y="184700"/>
            <a:ext cx="42210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900"/>
              <a:t>Components explained</a:t>
            </a:r>
            <a:endParaRPr sz="2800"/>
          </a:p>
        </p:txBody>
      </p:sp>
      <p:sp>
        <p:nvSpPr>
          <p:cNvPr id="1121" name="Google Shape;1121;p9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500"/>
              <a:t>Issues</a:t>
            </a:r>
            <a:endParaRPr sz="2500"/>
          </a:p>
        </p:txBody>
      </p:sp>
      <p:sp>
        <p:nvSpPr>
          <p:cNvPr id="1122" name="Google Shape;1122;p98"/>
          <p:cNvSpPr txBox="1"/>
          <p:nvPr>
            <p:ph idx="1" type="body"/>
          </p:nvPr>
        </p:nvSpPr>
        <p:spPr>
          <a:xfrm>
            <a:off x="172350" y="1093875"/>
            <a:ext cx="7937100" cy="3792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-34448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25"/>
              <a:buChar char="●"/>
            </a:pPr>
            <a:r>
              <a:rPr lang="en" sz="1825"/>
              <a:t>A unit of work in Jira</a:t>
            </a:r>
            <a:endParaRPr sz="1825"/>
          </a:p>
          <a:p>
            <a:pPr indent="-34448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25"/>
              <a:buChar char="●"/>
            </a:pPr>
            <a:r>
              <a:rPr lang="en" sz="1825"/>
              <a:t>Could be tasks, stories, spikes, bugs, epics</a:t>
            </a:r>
            <a:endParaRPr sz="1825"/>
          </a:p>
          <a:p>
            <a:pPr indent="-34448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25"/>
              <a:buChar char="●"/>
            </a:pPr>
            <a:r>
              <a:rPr lang="en" sz="1825"/>
              <a:t>Fields:</a:t>
            </a:r>
            <a:endParaRPr sz="1825"/>
          </a:p>
          <a:p>
            <a:pPr indent="-34448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25"/>
              <a:buChar char="○"/>
            </a:pPr>
            <a:r>
              <a:rPr lang="en" sz="1825"/>
              <a:t>Effort points </a:t>
            </a:r>
            <a:endParaRPr sz="1825"/>
          </a:p>
          <a:p>
            <a:pPr indent="-34448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25"/>
              <a:buChar char="○"/>
            </a:pPr>
            <a:r>
              <a:rPr lang="en" sz="1825"/>
              <a:t>Priority</a:t>
            </a:r>
            <a:endParaRPr sz="1825"/>
          </a:p>
          <a:p>
            <a:pPr indent="-34448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25"/>
              <a:buChar char="○"/>
            </a:pPr>
            <a:r>
              <a:rPr lang="en" sz="1825"/>
              <a:t>Assignee</a:t>
            </a:r>
            <a:endParaRPr sz="1825"/>
          </a:p>
          <a:p>
            <a:pPr indent="-34448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25"/>
              <a:buChar char="○"/>
            </a:pPr>
            <a:r>
              <a:rPr lang="en" sz="1825"/>
              <a:t>Created by</a:t>
            </a:r>
            <a:endParaRPr sz="1825"/>
          </a:p>
          <a:p>
            <a:pPr indent="-34448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25"/>
              <a:buChar char="○"/>
            </a:pPr>
            <a:r>
              <a:rPr lang="en" sz="1825"/>
              <a:t>Due date</a:t>
            </a:r>
            <a:endParaRPr sz="1825"/>
          </a:p>
          <a:p>
            <a:pPr indent="-34448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25"/>
              <a:buChar char="○"/>
            </a:pPr>
            <a:r>
              <a:rPr lang="en" sz="1825"/>
              <a:t>Status</a:t>
            </a:r>
            <a:endParaRPr sz="1825"/>
          </a:p>
          <a:p>
            <a:pPr indent="-34448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25"/>
              <a:buChar char="○"/>
            </a:pPr>
            <a:r>
              <a:rPr lang="en" sz="1825"/>
              <a:t>Description</a:t>
            </a:r>
            <a:endParaRPr sz="182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99"/>
          <p:cNvSpPr txBox="1"/>
          <p:nvPr>
            <p:ph idx="5" type="subTitle"/>
          </p:nvPr>
        </p:nvSpPr>
        <p:spPr>
          <a:xfrm>
            <a:off x="594025" y="184700"/>
            <a:ext cx="42210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900"/>
              <a:t>Issue ex:</a:t>
            </a:r>
            <a:endParaRPr sz="2800"/>
          </a:p>
        </p:txBody>
      </p:sp>
      <p:pic>
        <p:nvPicPr>
          <p:cNvPr id="1128" name="Google Shape;1128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75" y="517375"/>
            <a:ext cx="8714530" cy="462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00"/>
          <p:cNvSpPr/>
          <p:nvPr/>
        </p:nvSpPr>
        <p:spPr>
          <a:xfrm rot="5400000">
            <a:off x="2455325" y="-1537675"/>
            <a:ext cx="4386300" cy="85821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34" name="Google Shape;1134;p100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100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100"/>
          <p:cNvSpPr txBox="1"/>
          <p:nvPr>
            <p:ph idx="5" type="subTitle"/>
          </p:nvPr>
        </p:nvSpPr>
        <p:spPr>
          <a:xfrm>
            <a:off x="594025" y="184700"/>
            <a:ext cx="42210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900"/>
              <a:t>Components explained</a:t>
            </a:r>
            <a:endParaRPr sz="2800"/>
          </a:p>
        </p:txBody>
      </p:sp>
      <p:sp>
        <p:nvSpPr>
          <p:cNvPr id="1137" name="Google Shape;1137;p100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Boards</a:t>
            </a:r>
            <a:endParaRPr/>
          </a:p>
        </p:txBody>
      </p:sp>
      <p:sp>
        <p:nvSpPr>
          <p:cNvPr id="1138" name="Google Shape;1138;p100"/>
          <p:cNvSpPr txBox="1"/>
          <p:nvPr>
            <p:ph idx="1" type="body"/>
          </p:nvPr>
        </p:nvSpPr>
        <p:spPr>
          <a:xfrm>
            <a:off x="434050" y="1093875"/>
            <a:ext cx="6313200" cy="3852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 fontScale="25000" lnSpcReduction="20000"/>
          </a:bodyPr>
          <a:lstStyle/>
          <a:p>
            <a:pPr indent="-9000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/>
              <a:t>Scrum board</a:t>
            </a:r>
            <a:endParaRPr b="1" sz="72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Hanken Grotesk"/>
              <a:buChar char="●"/>
            </a:pPr>
            <a:r>
              <a:rPr lang="en" sz="7200"/>
              <a:t>work organized into sprints</a:t>
            </a:r>
            <a:endParaRPr sz="7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Hanken Grotesk"/>
              <a:buChar char="●"/>
            </a:pPr>
            <a:r>
              <a:rPr lang="en" sz="7200"/>
              <a:t>backlog + sprint planning</a:t>
            </a:r>
            <a:endParaRPr sz="7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/>
              <a:t>Kanban board</a:t>
            </a:r>
            <a:endParaRPr b="1" sz="72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Hanken Grotesk"/>
              <a:buChar char="●"/>
            </a:pPr>
            <a:r>
              <a:rPr lang="en" sz="7200"/>
              <a:t>continuous flow</a:t>
            </a:r>
            <a:endParaRPr sz="7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Hanken Grotesk"/>
              <a:buChar char="●"/>
            </a:pPr>
            <a:r>
              <a:rPr lang="en" sz="7200"/>
              <a:t>work moves through status columns</a:t>
            </a:r>
            <a:endParaRPr sz="7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/>
              <a:t>Common columns:</a:t>
            </a:r>
            <a:endParaRPr b="1" sz="72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Hanken Grotesk"/>
              <a:buChar char="●"/>
            </a:pPr>
            <a:r>
              <a:rPr lang="en" sz="7200"/>
              <a:t>To Do</a:t>
            </a:r>
            <a:endParaRPr sz="7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Hanken Grotesk"/>
              <a:buChar char="●"/>
            </a:pPr>
            <a:r>
              <a:rPr lang="en" sz="7200"/>
              <a:t>In Progress</a:t>
            </a:r>
            <a:endParaRPr sz="7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Hanken Grotesk"/>
              <a:buChar char="●"/>
            </a:pPr>
            <a:r>
              <a:rPr lang="en" sz="7200"/>
              <a:t>Code review</a:t>
            </a:r>
            <a:endParaRPr sz="7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Hanken Grotesk"/>
              <a:buChar char="●"/>
            </a:pPr>
            <a:r>
              <a:rPr lang="en" sz="7200"/>
              <a:t>Done</a:t>
            </a:r>
            <a:endParaRPr sz="7200"/>
          </a:p>
          <a:p>
            <a:pPr indent="-90000" lvl="0" marL="180000" rtl="0" algn="l">
              <a:lnSpc>
                <a:spcPct val="115000"/>
              </a:lnSpc>
              <a:spcBef>
                <a:spcPts val="1200"/>
              </a:spcBef>
              <a:spcAft>
                <a:spcPts val="500"/>
              </a:spcAft>
              <a:buClr>
                <a:schemeClr val="dk1"/>
              </a:buClr>
              <a:buSzPct val="26471"/>
              <a:buFont typeface="Arial"/>
              <a:buNone/>
            </a:pPr>
            <a:r>
              <a:t/>
            </a:r>
            <a:endParaRPr sz="3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01"/>
          <p:cNvSpPr txBox="1"/>
          <p:nvPr>
            <p:ph idx="5" type="subTitle"/>
          </p:nvPr>
        </p:nvSpPr>
        <p:spPr>
          <a:xfrm>
            <a:off x="594025" y="184700"/>
            <a:ext cx="42210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900"/>
              <a:t>Board ex:</a:t>
            </a:r>
            <a:endParaRPr sz="2800"/>
          </a:p>
        </p:txBody>
      </p:sp>
      <p:pic>
        <p:nvPicPr>
          <p:cNvPr id="1144" name="Google Shape;114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850" y="491000"/>
            <a:ext cx="7835302" cy="46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02"/>
          <p:cNvSpPr/>
          <p:nvPr/>
        </p:nvSpPr>
        <p:spPr>
          <a:xfrm rot="5400000">
            <a:off x="2455325" y="-1537675"/>
            <a:ext cx="4386300" cy="85821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50" name="Google Shape;1150;p102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102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102"/>
          <p:cNvSpPr txBox="1"/>
          <p:nvPr>
            <p:ph idx="5" type="subTitle"/>
          </p:nvPr>
        </p:nvSpPr>
        <p:spPr>
          <a:xfrm>
            <a:off x="594025" y="184700"/>
            <a:ext cx="42210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900"/>
              <a:t>Components explained</a:t>
            </a:r>
            <a:endParaRPr sz="2800"/>
          </a:p>
        </p:txBody>
      </p:sp>
      <p:sp>
        <p:nvSpPr>
          <p:cNvPr id="1153" name="Google Shape;1153;p102"/>
          <p:cNvSpPr txBox="1"/>
          <p:nvPr>
            <p:ph idx="3" type="subTitle"/>
          </p:nvPr>
        </p:nvSpPr>
        <p:spPr>
          <a:xfrm>
            <a:off x="357425" y="718250"/>
            <a:ext cx="2358300" cy="3780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40"/>
              <a:buNone/>
            </a:pPr>
            <a:r>
              <a:rPr lang="en" sz="1740"/>
              <a:t>Backlogs, sprints, epics</a:t>
            </a:r>
            <a:endParaRPr sz="1740"/>
          </a:p>
        </p:txBody>
      </p:sp>
      <p:sp>
        <p:nvSpPr>
          <p:cNvPr id="1154" name="Google Shape;1154;p102"/>
          <p:cNvSpPr txBox="1"/>
          <p:nvPr>
            <p:ph idx="1" type="body"/>
          </p:nvPr>
        </p:nvSpPr>
        <p:spPr>
          <a:xfrm>
            <a:off x="172350" y="1093875"/>
            <a:ext cx="6408900" cy="29400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 fontScale="40000" lnSpcReduction="20000"/>
          </a:bodyPr>
          <a:lstStyle/>
          <a:p>
            <a:pPr indent="-37064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" sz="5592"/>
              <a:t>Backlog:</a:t>
            </a:r>
            <a:r>
              <a:rPr lang="en" sz="5592"/>
              <a:t> prioritized list of future work</a:t>
            </a:r>
            <a:endParaRPr sz="5592"/>
          </a:p>
          <a:p>
            <a:pPr indent="-3706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" sz="5592"/>
              <a:t>Epic:</a:t>
            </a:r>
            <a:r>
              <a:rPr lang="en" sz="5592"/>
              <a:t> large feature or goal containing multiple issues</a:t>
            </a:r>
            <a:endParaRPr sz="5592"/>
          </a:p>
          <a:p>
            <a:pPr indent="-3706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" sz="5592"/>
              <a:t>Sprint:</a:t>
            </a:r>
            <a:r>
              <a:rPr lang="en" sz="5592"/>
              <a:t> fixed period of time where a team completes selected work</a:t>
            </a:r>
            <a:endParaRPr sz="5592"/>
          </a:p>
          <a:p>
            <a:pPr indent="-37064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Hanken Grotesk"/>
              <a:buChar char="●"/>
            </a:pPr>
            <a:r>
              <a:rPr lang="en" sz="5592"/>
              <a:t>Teams pull issues from the backlog into a sprint</a:t>
            </a:r>
            <a:endParaRPr b="1" sz="5592"/>
          </a:p>
          <a:p>
            <a:pPr indent="-90000" lvl="0" marL="180000" rtl="0" algn="l">
              <a:lnSpc>
                <a:spcPct val="115000"/>
              </a:lnSpc>
              <a:spcBef>
                <a:spcPts val="1200"/>
              </a:spcBef>
              <a:spcAft>
                <a:spcPts val="500"/>
              </a:spcAft>
              <a:buClr>
                <a:schemeClr val="dk1"/>
              </a:buClr>
              <a:buSzPct val="90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55" name="Google Shape;1155;p102"/>
          <p:cNvSpPr txBox="1"/>
          <p:nvPr/>
        </p:nvSpPr>
        <p:spPr>
          <a:xfrm>
            <a:off x="965800" y="3734675"/>
            <a:ext cx="1340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Epic</a:t>
            </a:r>
            <a:endParaRPr sz="1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56" name="Google Shape;1156;p102"/>
          <p:cNvSpPr/>
          <p:nvPr/>
        </p:nvSpPr>
        <p:spPr>
          <a:xfrm>
            <a:off x="1984750" y="3911900"/>
            <a:ext cx="10965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57" name="Google Shape;1157;p102"/>
          <p:cNvSpPr txBox="1"/>
          <p:nvPr/>
        </p:nvSpPr>
        <p:spPr>
          <a:xfrm>
            <a:off x="3477325" y="3734675"/>
            <a:ext cx="1176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Stories</a:t>
            </a:r>
            <a:endParaRPr sz="1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58" name="Google Shape;1158;p102"/>
          <p:cNvSpPr/>
          <p:nvPr/>
        </p:nvSpPr>
        <p:spPr>
          <a:xfrm>
            <a:off x="4653925" y="3911900"/>
            <a:ext cx="10965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59" name="Google Shape;1159;p102"/>
          <p:cNvSpPr txBox="1"/>
          <p:nvPr/>
        </p:nvSpPr>
        <p:spPr>
          <a:xfrm>
            <a:off x="6071625" y="3734675"/>
            <a:ext cx="30015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Subtasks (if applicable)</a:t>
            </a:r>
            <a:endParaRPr sz="1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60" name="Google Shape;1160;p102"/>
          <p:cNvSpPr txBox="1"/>
          <p:nvPr/>
        </p:nvSpPr>
        <p:spPr>
          <a:xfrm>
            <a:off x="3207325" y="4112675"/>
            <a:ext cx="1716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(organized into sprints)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03"/>
          <p:cNvSpPr/>
          <p:nvPr/>
        </p:nvSpPr>
        <p:spPr>
          <a:xfrm rot="5400000">
            <a:off x="2455325" y="-1537675"/>
            <a:ext cx="4386300" cy="85821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66" name="Google Shape;1166;p103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103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103"/>
          <p:cNvSpPr txBox="1"/>
          <p:nvPr>
            <p:ph idx="5" type="subTitle"/>
          </p:nvPr>
        </p:nvSpPr>
        <p:spPr>
          <a:xfrm>
            <a:off x="594025" y="184700"/>
            <a:ext cx="42210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900"/>
              <a:t>Components explained</a:t>
            </a:r>
            <a:endParaRPr sz="2800"/>
          </a:p>
        </p:txBody>
      </p:sp>
      <p:sp>
        <p:nvSpPr>
          <p:cNvPr id="1169" name="Google Shape;1169;p103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rPr lang="en" sz="1870"/>
              <a:t>Reports/Analytics</a:t>
            </a:r>
            <a:endParaRPr sz="1870"/>
          </a:p>
        </p:txBody>
      </p:sp>
      <p:sp>
        <p:nvSpPr>
          <p:cNvPr id="1170" name="Google Shape;1170;p103"/>
          <p:cNvSpPr txBox="1"/>
          <p:nvPr>
            <p:ph idx="1" type="body"/>
          </p:nvPr>
        </p:nvSpPr>
        <p:spPr>
          <a:xfrm>
            <a:off x="172350" y="1093875"/>
            <a:ext cx="3730800" cy="3183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Burndown charts: tracks remaining sprint work over time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Velocity chart: tracks work completed each sprint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Helps determine future workload + highlight any forgotten work</a:t>
            </a:r>
            <a:endParaRPr sz="1800"/>
          </a:p>
        </p:txBody>
      </p:sp>
      <p:pic>
        <p:nvPicPr>
          <p:cNvPr id="1171" name="Google Shape;1171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150" y="1048574"/>
            <a:ext cx="4367750" cy="34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104"/>
          <p:cNvSpPr/>
          <p:nvPr/>
        </p:nvSpPr>
        <p:spPr>
          <a:xfrm rot="5400000">
            <a:off x="2455625" y="-1537675"/>
            <a:ext cx="4386300" cy="85821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77" name="Google Shape;1177;p104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104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104"/>
          <p:cNvSpPr txBox="1"/>
          <p:nvPr>
            <p:ph idx="5" type="subTitle"/>
          </p:nvPr>
        </p:nvSpPr>
        <p:spPr>
          <a:xfrm>
            <a:off x="594025" y="184700"/>
            <a:ext cx="42210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900"/>
              <a:t>Components explained</a:t>
            </a:r>
            <a:endParaRPr sz="2800"/>
          </a:p>
        </p:txBody>
      </p:sp>
      <p:sp>
        <p:nvSpPr>
          <p:cNvPr id="1180" name="Google Shape;1180;p104"/>
          <p:cNvSpPr txBox="1"/>
          <p:nvPr>
            <p:ph idx="3" type="subTitle"/>
          </p:nvPr>
        </p:nvSpPr>
        <p:spPr>
          <a:xfrm>
            <a:off x="313125" y="692275"/>
            <a:ext cx="2903100" cy="5355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10"/>
              <a:buNone/>
            </a:pPr>
            <a:r>
              <a:rPr lang="en" sz="1910"/>
              <a:t>Automations &amp; Integrations</a:t>
            </a:r>
            <a:endParaRPr sz="1910"/>
          </a:p>
        </p:txBody>
      </p:sp>
      <p:sp>
        <p:nvSpPr>
          <p:cNvPr id="1181" name="Google Shape;1181;p104"/>
          <p:cNvSpPr txBox="1"/>
          <p:nvPr>
            <p:ph idx="1" type="body"/>
          </p:nvPr>
        </p:nvSpPr>
        <p:spPr>
          <a:xfrm>
            <a:off x="313125" y="1291050"/>
            <a:ext cx="3689700" cy="10572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-34448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25"/>
              <a:buChar char="●"/>
            </a:pPr>
            <a:r>
              <a:rPr lang="en" sz="1825"/>
              <a:t>Automate workflows</a:t>
            </a:r>
            <a:endParaRPr sz="1825"/>
          </a:p>
          <a:p>
            <a:pPr indent="-34448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25"/>
              <a:buChar char="●"/>
            </a:pPr>
            <a:r>
              <a:rPr lang="en" sz="1825"/>
              <a:t>Link Github branches</a:t>
            </a:r>
            <a:endParaRPr sz="1825"/>
          </a:p>
          <a:p>
            <a:pPr indent="-34448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25"/>
              <a:buChar char="●"/>
            </a:pPr>
            <a:r>
              <a:rPr lang="en" sz="1825"/>
              <a:t>Connect slack channels</a:t>
            </a:r>
            <a:endParaRPr sz="1825"/>
          </a:p>
        </p:txBody>
      </p:sp>
      <p:pic>
        <p:nvPicPr>
          <p:cNvPr id="1182" name="Google Shape;1182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4075" y="1453125"/>
            <a:ext cx="3256550" cy="297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725" y="2543291"/>
            <a:ext cx="5038300" cy="2166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8" name="Google Shape;1188;p105"/>
          <p:cNvGrpSpPr/>
          <p:nvPr/>
        </p:nvGrpSpPr>
        <p:grpSpPr>
          <a:xfrm>
            <a:off x="6088450" y="501200"/>
            <a:ext cx="2856600" cy="3787154"/>
            <a:chOff x="3140675" y="501200"/>
            <a:chExt cx="2856600" cy="4462300"/>
          </a:xfrm>
        </p:grpSpPr>
        <p:sp>
          <p:nvSpPr>
            <p:cNvPr id="1189" name="Google Shape;1189;p105"/>
            <p:cNvSpPr/>
            <p:nvPr/>
          </p:nvSpPr>
          <p:spPr>
            <a:xfrm rot="5400000">
              <a:off x="2427125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190" name="Google Shape;1190;p105"/>
            <p:cNvSpPr/>
            <p:nvPr/>
          </p:nvSpPr>
          <p:spPr>
            <a:xfrm>
              <a:off x="3295225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191" name="Google Shape;1191;p105"/>
          <p:cNvGrpSpPr/>
          <p:nvPr/>
        </p:nvGrpSpPr>
        <p:grpSpPr>
          <a:xfrm>
            <a:off x="192900" y="501186"/>
            <a:ext cx="2856600" cy="3787154"/>
            <a:chOff x="192900" y="501200"/>
            <a:chExt cx="2856600" cy="4462300"/>
          </a:xfrm>
        </p:grpSpPr>
        <p:sp>
          <p:nvSpPr>
            <p:cNvPr id="1192" name="Google Shape;1192;p105"/>
            <p:cNvSpPr/>
            <p:nvPr/>
          </p:nvSpPr>
          <p:spPr>
            <a:xfrm rot="5400000">
              <a:off x="-520650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193" name="Google Shape;1193;p105"/>
            <p:cNvSpPr/>
            <p:nvPr/>
          </p:nvSpPr>
          <p:spPr>
            <a:xfrm>
              <a:off x="347450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194" name="Google Shape;1194;p105"/>
          <p:cNvGrpSpPr/>
          <p:nvPr/>
        </p:nvGrpSpPr>
        <p:grpSpPr>
          <a:xfrm>
            <a:off x="3140675" y="501198"/>
            <a:ext cx="2856600" cy="3787154"/>
            <a:chOff x="3140675" y="501200"/>
            <a:chExt cx="2856600" cy="4462300"/>
          </a:xfrm>
        </p:grpSpPr>
        <p:sp>
          <p:nvSpPr>
            <p:cNvPr id="1195" name="Google Shape;1195;p105"/>
            <p:cNvSpPr/>
            <p:nvPr/>
          </p:nvSpPr>
          <p:spPr>
            <a:xfrm rot="5400000">
              <a:off x="2427125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196" name="Google Shape;1196;p105"/>
            <p:cNvSpPr/>
            <p:nvPr/>
          </p:nvSpPr>
          <p:spPr>
            <a:xfrm>
              <a:off x="3295225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197" name="Google Shape;1197;p105"/>
          <p:cNvSpPr txBox="1"/>
          <p:nvPr>
            <p:ph type="title"/>
          </p:nvPr>
        </p:nvSpPr>
        <p:spPr>
          <a:xfrm>
            <a:off x="193900" y="795669"/>
            <a:ext cx="2856900" cy="7854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198" name="Google Shape;1198;p10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800"/>
              <a:t>Summary</a:t>
            </a:r>
            <a:endParaRPr sz="2800"/>
          </a:p>
        </p:txBody>
      </p:sp>
      <p:sp>
        <p:nvSpPr>
          <p:cNvPr id="1199" name="Google Shape;1199;p105"/>
          <p:cNvSpPr txBox="1"/>
          <p:nvPr>
            <p:ph idx="2" type="title"/>
          </p:nvPr>
        </p:nvSpPr>
        <p:spPr>
          <a:xfrm>
            <a:off x="3141175" y="795670"/>
            <a:ext cx="2856900" cy="6903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Benefits</a:t>
            </a:r>
            <a:endParaRPr/>
          </a:p>
        </p:txBody>
      </p:sp>
      <p:sp>
        <p:nvSpPr>
          <p:cNvPr id="1200" name="Google Shape;1200;p105"/>
          <p:cNvSpPr txBox="1"/>
          <p:nvPr>
            <p:ph idx="3" type="title"/>
          </p:nvPr>
        </p:nvSpPr>
        <p:spPr>
          <a:xfrm>
            <a:off x="6088450" y="795671"/>
            <a:ext cx="2856900" cy="6903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1201" name="Google Shape;1201;p105"/>
          <p:cNvSpPr txBox="1"/>
          <p:nvPr>
            <p:ph idx="4" type="body"/>
          </p:nvPr>
        </p:nvSpPr>
        <p:spPr>
          <a:xfrm>
            <a:off x="194075" y="1414925"/>
            <a:ext cx="2856900" cy="22422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Originally built by Atlassian as a software tool for bug tracking</a:t>
            </a:r>
            <a:endParaRPr sz="1600"/>
          </a:p>
        </p:txBody>
      </p:sp>
      <p:sp>
        <p:nvSpPr>
          <p:cNvPr id="1202" name="Google Shape;1202;p105"/>
          <p:cNvSpPr txBox="1"/>
          <p:nvPr>
            <p:ph idx="5" type="body"/>
          </p:nvPr>
        </p:nvSpPr>
        <p:spPr>
          <a:xfrm>
            <a:off x="3140525" y="1414925"/>
            <a:ext cx="2856900" cy="2474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Helps plan, organize, and track software development work</a:t>
            </a:r>
            <a:endParaRPr sz="1600"/>
          </a:p>
        </p:txBody>
      </p:sp>
      <p:sp>
        <p:nvSpPr>
          <p:cNvPr id="1203" name="Google Shape;1203;p105"/>
          <p:cNvSpPr txBox="1"/>
          <p:nvPr>
            <p:ph idx="6" type="body"/>
          </p:nvPr>
        </p:nvSpPr>
        <p:spPr>
          <a:xfrm>
            <a:off x="6086975" y="1414925"/>
            <a:ext cx="2856900" cy="22422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600"/>
              <a:t>Issues, boards, sprints, workflows, reports</a:t>
            </a:r>
            <a:endParaRPr sz="1600"/>
          </a:p>
        </p:txBody>
      </p:sp>
      <p:sp>
        <p:nvSpPr>
          <p:cNvPr id="1204" name="Google Shape;1204;p105"/>
          <p:cNvSpPr txBox="1"/>
          <p:nvPr/>
        </p:nvSpPr>
        <p:spPr>
          <a:xfrm>
            <a:off x="336700" y="4465675"/>
            <a:ext cx="85503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Main takeaway: A useful tool for assigning, organizing, </a:t>
            </a:r>
            <a:r>
              <a:rPr lang="en" sz="1700">
                <a:solidFill>
                  <a:schemeClr val="dk1"/>
                </a:solidFill>
              </a:rPr>
              <a:t>monitoring</a:t>
            </a:r>
            <a:r>
              <a:rPr lang="en" sz="1700">
                <a:solidFill>
                  <a:schemeClr val="dk1"/>
                </a:solidFill>
              </a:rPr>
              <a:t>, and </a:t>
            </a:r>
            <a:r>
              <a:rPr lang="en" sz="1700">
                <a:solidFill>
                  <a:schemeClr val="dk1"/>
                </a:solidFill>
              </a:rPr>
              <a:t>planning</a:t>
            </a:r>
            <a:r>
              <a:rPr lang="en" sz="1700">
                <a:solidFill>
                  <a:schemeClr val="dk1"/>
                </a:solidFill>
              </a:rPr>
              <a:t> work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06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10" name="Google Shape;1210;p106"/>
          <p:cNvSpPr txBox="1"/>
          <p:nvPr/>
        </p:nvSpPr>
        <p:spPr>
          <a:xfrm>
            <a:off x="392075" y="1209450"/>
            <a:ext cx="8096400" cy="3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References</a:t>
            </a:r>
            <a:endParaRPr sz="2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"/>
              <a:buChar char="-"/>
            </a:pPr>
            <a:r>
              <a:rPr lang="en" sz="2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https://calpoly-se-capstone.atlassian.net/jira/software/projects/RSC/development?severity=CRITICAL%2CHIGH&amp;sortKey=updated&amp;sortOrder=DESC&amp;tab=CONNECTIONS</a:t>
            </a:r>
            <a:endParaRPr sz="2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"/>
              <a:buChar char="-"/>
            </a:pPr>
            <a:r>
              <a:rPr lang="en" sz="2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https://ardura.consulting/glossary/jira/</a:t>
            </a:r>
            <a:endParaRPr sz="2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"/>
              <a:buChar char="-"/>
            </a:pPr>
            <a:r>
              <a:rPr lang="en" sz="2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https://www.atlassian.com/software/jira/features</a:t>
            </a:r>
            <a:endParaRPr sz="2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0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16" name="Google Shape;1216;p107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br>
              <a:rPr lang="en"/>
            </a:br>
            <a:r>
              <a:rPr lang="en" sz="7500"/>
              <a:t>Thank you! Questions?</a:t>
            </a:r>
            <a:endParaRPr sz="7500"/>
          </a:p>
        </p:txBody>
      </p:sp>
      <p:cxnSp>
        <p:nvCxnSpPr>
          <p:cNvPr id="1217" name="Google Shape;1217;p107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
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4"/>
  </p:sldMasterIdLst>
  <p:notesMasterIdLst>
    <p:notesMasterId r:id="rId14"/>
  </p:notesMasterIdLst>
  <p:sldIdLst>
    <p:sldId id="2767" r:id="rId5"/>
    <p:sldId id="257" r:id="rId6"/>
    <p:sldId id="261" r:id="rId7"/>
    <p:sldId id="269" r:id="rId8"/>
    <p:sldId id="263" r:id="rId9"/>
    <p:sldId id="2768" r:id="rId10"/>
    <p:sldId id="2770" r:id="rId11"/>
    <p:sldId id="2771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5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10/6/2026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72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99F15-3ACF-B165-35FF-55BC6EDB2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482B2-46FA-761D-5D47-9DB29178C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B3531-E1B9-D11D-E8E9-B74DE759C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1008C-2087-5C41-DEEC-7DD6B25A0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328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7294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E1B28-DB45-4001-B295-7D7933E0441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637772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21425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E1B28-DB45-4001-B295-7D7933E0441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960579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738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887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60741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072E1B28-DB45-4001-B295-7D7933E0441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751977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072E1B28-DB45-4001-B295-7D7933E0441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43380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876112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072E1B28-DB45-4001-B295-7D7933E0441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605718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072E1B28-DB45-4001-B295-7D7933E0441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811480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30225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597413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274649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072E1B28-DB45-4001-B295-7D7933E0441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545984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88338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072E1B28-DB45-4001-B295-7D7933E0441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838878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746244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2E1B28-DB45-4001-B295-7D7933E0441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3454284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r>
              <a:rPr lang="en-US"/>
              <a:t>Sample Footer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7067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072E1B28-DB45-4001-B295-7D7933E0441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256626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072E1B28-DB45-4001-B295-7D7933E0441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892662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E1B28-DB45-4001-B295-7D7933E0441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63282"/>
      </p:ext>
    </p:extLst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072E1B28-DB45-4001-B295-7D7933E0441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6423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97C38B47-093E-417D-A1C3-81EEF797AC6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269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A250925D-4314-49E4-A383-289640FEB5E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745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9316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5286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3803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4808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9240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072E1B28-DB45-4001-B295-7D7933E0441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99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  <p:sldLayoutId id="2147483763" r:id="rId22"/>
    <p:sldLayoutId id="2147483764" r:id="rId23"/>
    <p:sldLayoutId id="2147483765" r:id="rId24"/>
    <p:sldLayoutId id="2147483766" r:id="rId25"/>
    <p:sldLayoutId id="2147483767" r:id="rId26"/>
    <p:sldLayoutId id="2147483768" r:id="rId27"/>
    <p:sldLayoutId id="2147483769" r:id="rId28"/>
    <p:sldLayoutId id="2147483772" r:id="rId29"/>
    <p:sldLayoutId id="2147483773" r:id="rId30"/>
    <p:sldLayoutId id="2147483774" r:id="rId31"/>
    <p:sldLayoutId id="2147483776" r:id="rId32"/>
    <p:sldLayoutId id="2147483697" r:id="rId33"/>
    <p:sldLayoutId id="2147483698" r:id="rId34"/>
    <p:sldLayoutId id="2147483699" r:id="rId35"/>
    <p:sldLayoutId id="2147483700" r:id="rId36"/>
    <p:sldLayoutId id="2147483701" r:id="rId37"/>
    <p:sldLayoutId id="2147483702" r:id="rId38"/>
    <p:sldLayoutId id="2147483703" r:id="rId39"/>
    <p:sldLayoutId id="2147483704" r:id="rId40"/>
    <p:sldLayoutId id="2147483705" r:id="rId41"/>
    <p:sldLayoutId id="2147483706" r:id="rId42"/>
    <p:sldLayoutId id="2147483707" r:id="rId43"/>
    <p:sldLayoutId id="2147483708" r:id="rId44"/>
    <p:sldLayoutId id="2147483709" r:id="rId45"/>
    <p:sldLayoutId id="2147483710" r:id="rId46"/>
    <p:sldLayoutId id="2147483711" r:id="rId47"/>
    <p:sldLayoutId id="2147483712" r:id="rId48"/>
    <p:sldLayoutId id="2147483713" r:id="rId49"/>
    <p:sldLayoutId id="2147483714" r:id="rId50"/>
    <p:sldLayoutId id="2147483718" r:id="rId51"/>
    <p:sldLayoutId id="2147483719" r:id="rId52"/>
    <p:sldLayoutId id="2147483720" r:id="rId53"/>
    <p:sldLayoutId id="2147483721" r:id="rId54"/>
    <p:sldLayoutId id="2147483722" r:id="rId55"/>
    <p:sldLayoutId id="2147483723" r:id="rId56"/>
    <p:sldLayoutId id="2147483725" r:id="rId57"/>
    <p:sldLayoutId id="2147483727" r:id="rId58"/>
    <p:sldLayoutId id="2147483728" r:id="rId59"/>
    <p:sldLayoutId id="2147483729" r:id="rId60"/>
    <p:sldLayoutId id="2147483731" r:id="rId61"/>
    <p:sldLayoutId id="2147483732" r:id="rId62"/>
    <p:sldLayoutId id="2147483733" r:id="rId63"/>
    <p:sldLayoutId id="2147483734" r:id="rId64"/>
    <p:sldLayoutId id="2147483735" r:id="rId65"/>
    <p:sldLayoutId id="2147483736" r:id="rId66"/>
    <p:sldLayoutId id="2147483737" r:id="rId67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Relationship Id="rId4" Type="http://schemas.openxmlformats.org/officeDocument/2006/relationships/hyperlink" Target="https://www.honeycomb.io/blog/making-room-for-lint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olang/lint" TargetMode="External"/><Relationship Id="rId7" Type="http://schemas.openxmlformats.org/officeDocument/2006/relationships/hyperlink" Target="https://learn.microsoft.com/en-us/dotnet/fundamentals/code-analysis/style-rules/" TargetMode="External"/><Relationship Id="rId2" Type="http://schemas.openxmlformats.org/officeDocument/2006/relationships/hyperlink" Target="https://megalinter.io/latest/" TargetMode="External"/><Relationship Id="rId1" Type="http://schemas.openxmlformats.org/officeDocument/2006/relationships/slideLayout" Target="../slideLayouts/slideLayout23.xml"/><Relationship Id="rId6" Type="http://schemas.openxmlformats.org/officeDocument/2006/relationships/hyperlink" Target="https://github.com/pylint-dev/pylint" TargetMode="External"/><Relationship Id="rId5" Type="http://schemas.openxmlformats.org/officeDocument/2006/relationships/hyperlink" Target="https://github.com/palantir/tslint" TargetMode="External"/><Relationship Id="rId4" Type="http://schemas.openxmlformats.org/officeDocument/2006/relationships/hyperlink" Target="https://github.com/eslint/eslin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manticdesigns.com/Products/StyleChecker/" TargetMode="External"/><Relationship Id="rId2" Type="http://schemas.openxmlformats.org/officeDocument/2006/relationships/hyperlink" Target="https://www.sonarsource.com/resources/library/linter/" TargetMode="Externa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31.png"/><Relationship Id="rId4" Type="http://schemas.openxmlformats.org/officeDocument/2006/relationships/hyperlink" Target="https://en.wikipedia.org/wiki/Checksty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Linters &amp; </a:t>
            </a:r>
            <a:br>
              <a:rPr lang="en-US" dirty="0"/>
            </a:br>
            <a:r>
              <a:rPr lang="en-US" dirty="0"/>
              <a:t>Style Checkers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Morgan Blanck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 dirty="0"/>
              <a:t>10/6/2026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93C2242-EDFC-CC39-97DF-2DB1D8D5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noProof="0" dirty="0"/>
              <a:t>CSC 4160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4" y="174345"/>
            <a:ext cx="8139659" cy="155448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319" y="1944279"/>
            <a:ext cx="6621139" cy="2561620"/>
          </a:xfrm>
          <a:ln w="19050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Introduction</a:t>
            </a:r>
          </a:p>
          <a:p>
            <a:r>
              <a:rPr lang="en-US" sz="2000" dirty="0"/>
              <a:t>History</a:t>
            </a:r>
          </a:p>
          <a:p>
            <a:r>
              <a:rPr lang="en-US" sz="2000" dirty="0"/>
              <a:t>Demo</a:t>
            </a:r>
          </a:p>
          <a:p>
            <a:r>
              <a:rPr lang="en-US" sz="2000" dirty="0"/>
              <a:t>Potential Usage in Capstone Projects</a:t>
            </a:r>
          </a:p>
          <a:p>
            <a:r>
              <a:rPr lang="en-US" sz="2000" dirty="0"/>
              <a:t>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602D5-209F-C183-95CC-735D34DC941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91288"/>
            <a:ext cx="2841625" cy="334962"/>
          </a:xfrm>
        </p:spPr>
        <p:txBody>
          <a:bodyPr/>
          <a:lstStyle/>
          <a:p>
            <a:r>
              <a:rPr lang="en-US" dirty="0"/>
              <a:t>10/6/2026</a:t>
            </a:r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03626A1-9E15-A048-4FD7-2D14DDE4162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82" r="20382"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Linters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1800" dirty="0"/>
              <a:t>developer tool that analyzes code for errors, vulnerabilities, and stylistic issues to improve </a:t>
            </a:r>
            <a:r>
              <a:rPr lang="en-US" sz="1800" dirty="0">
                <a:solidFill>
                  <a:schemeClr val="accent3"/>
                </a:solidFill>
              </a:rPr>
              <a:t>code quality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1800" dirty="0"/>
              <a:t>compares code to a set of rules and notifies the user when the code deviates from these rules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Style Checkers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parse code and diagnose violations of predefined style rules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accent3"/>
                </a:solidFill>
              </a:rPr>
              <a:t>consistent style</a:t>
            </a:r>
            <a:r>
              <a:rPr lang="en-US" sz="1800" dirty="0"/>
              <a:t> makes programmers more productive by preventing guesswork and knowing where to look and what to expect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dirty="0"/>
              <a:t>enforcing standards can help avoid errors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FBC74-35D9-C062-A1B7-A5F83C6D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B24764-B54F-51C6-73DA-464312C19DF4}"/>
              </a:ext>
            </a:extLst>
          </p:cNvPr>
          <p:cNvSpPr txBox="1"/>
          <p:nvPr/>
        </p:nvSpPr>
        <p:spPr>
          <a:xfrm>
            <a:off x="0" y="6399152"/>
            <a:ext cx="602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4"/>
              </a:rPr>
              <a:t>https://www.honeycomb.io/blog/making-room-for-lint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2400-94AD-31F6-37F1-0D939219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50A7-8097-B5C9-4E58-9ED8D14A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0D08B-C7CA-70C3-F459-4B8F8CFD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E87923-C786-7E1F-7B22-9504A450A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 w="19050"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r>
              <a:rPr lang="en-US" sz="3600" dirty="0"/>
              <a:t>Linters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B247B5-421D-5EDF-CAE0-A53DC7C7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 w="190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3600" dirty="0"/>
              <a:t>Style Checkers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3E687F-4CBF-7FF2-FB7F-08B53853E62B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norm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the first style checker was developed in 2001 by </a:t>
            </a:r>
            <a:r>
              <a:rPr lang="en-US" sz="2000" dirty="0">
                <a:solidFill>
                  <a:schemeClr val="accent3"/>
                </a:solidFill>
              </a:rPr>
              <a:t>Oliver Burn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this tool, known as Checkstyle, is a code analysis tool that is used for maintaining standards for Java code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there are now many different types of style checkers that can be used for almost all programming languages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17B78FC-FB42-D025-3608-FC9393C7FD24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>
            <a:norm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the term “linter” comes from a tool known as “lint”, which was developed by </a:t>
            </a:r>
            <a:r>
              <a:rPr lang="en-US" sz="2000" dirty="0">
                <a:solidFill>
                  <a:schemeClr val="accent3"/>
                </a:solidFill>
              </a:rPr>
              <a:t>Stephen C. Johson</a:t>
            </a:r>
            <a:r>
              <a:rPr lang="en-US" sz="2000" dirty="0"/>
              <a:t> in 1978 at Bell Labs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this tool was originally developed for analyzing C code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now linters are available for almost all programming languages</a:t>
            </a:r>
          </a:p>
        </p:txBody>
      </p:sp>
    </p:spTree>
    <p:extLst>
      <p:ext uri="{BB962C8B-B14F-4D97-AF65-F5344CB8AC3E}">
        <p14:creationId xmlns:p14="http://schemas.microsoft.com/office/powerpoint/2010/main" val="1384372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Demo: ESLint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9724" y="1819656"/>
            <a:ext cx="5666232" cy="4489704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800" b="1" dirty="0"/>
              <a:t>parsing source code:</a:t>
            </a:r>
            <a:r>
              <a:rPr lang="en-US" sz="1800" dirty="0"/>
              <a:t> linter breaks down the code into </a:t>
            </a:r>
            <a:r>
              <a:rPr lang="en-US" sz="1800" dirty="0">
                <a:solidFill>
                  <a:schemeClr val="accent6"/>
                </a:solidFill>
              </a:rPr>
              <a:t>tokens</a:t>
            </a:r>
            <a:r>
              <a:rPr lang="en-US" sz="1800" dirty="0"/>
              <a:t> (basic elements of programming languages)</a:t>
            </a:r>
          </a:p>
          <a:p>
            <a:pPr marL="571500" lvl="1" indent="-342900">
              <a:lnSpc>
                <a:spcPct val="100000"/>
              </a:lnSpc>
              <a:buFont typeface="+mj-lt"/>
              <a:buAutoNum type="alphaLcPeriod"/>
            </a:pPr>
            <a:r>
              <a:rPr lang="en-US" sz="1800" dirty="0"/>
              <a:t>the tokens build an Abstract Syntax Tree (AST)</a:t>
            </a:r>
          </a:p>
          <a:p>
            <a:pPr marL="571500" lvl="1" indent="-342900">
              <a:lnSpc>
                <a:spcPct val="100000"/>
              </a:lnSpc>
              <a:buFont typeface="+mj-lt"/>
              <a:buAutoNum type="alphaLcPeriod"/>
            </a:pPr>
            <a:r>
              <a:rPr lang="en-US" sz="1800" dirty="0"/>
              <a:t>checks the analyzed code against a set of guidelines and standards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US" sz="1800" b="1" dirty="0"/>
              <a:t>reporting issues: </a:t>
            </a:r>
            <a:r>
              <a:rPr lang="en-US" sz="1800" dirty="0"/>
              <a:t>when the linter identifies a </a:t>
            </a:r>
            <a:r>
              <a:rPr lang="en-US" sz="1800" dirty="0">
                <a:solidFill>
                  <a:schemeClr val="accent6"/>
                </a:solidFill>
              </a:rPr>
              <a:t>rule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accent6"/>
                </a:solidFill>
              </a:rPr>
              <a:t>violation</a:t>
            </a:r>
            <a:r>
              <a:rPr lang="en-US" sz="1800" dirty="0"/>
              <a:t> or suspect pattern, it flags the user</a:t>
            </a:r>
          </a:p>
          <a:p>
            <a:pPr marL="571500" lvl="1" indent="-342900">
              <a:lnSpc>
                <a:spcPct val="100000"/>
              </a:lnSpc>
              <a:buFont typeface="+mj-lt"/>
              <a:buAutoNum type="alphaLcPeriod"/>
            </a:pPr>
            <a:r>
              <a:rPr lang="en-US" sz="1800" dirty="0"/>
              <a:t>provides details (line numbers, type of issue, possible fixes) to help the developer examine the issue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FE3EB-673E-77EF-2980-BA6EC57A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3D08F0-01AD-C674-8B29-735F46EC3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349" y="989352"/>
            <a:ext cx="4836883" cy="2260624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472069-854B-04ED-285C-61E9E2D0CE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934" y="3894627"/>
            <a:ext cx="5955193" cy="222361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A0279-47F9-4DC0-A896-1C55F2ED0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CF570-7543-9EDD-B05E-BE5F18A4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Demo: Prettier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0D642-9B48-AC64-9874-9975C1AE770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4605" y="1928438"/>
            <a:ext cx="5571745" cy="448970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/>
              <a:t>the developer writes their code according to any style convention they choose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run Prettier from the command line with these commands: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1800" dirty="0" err="1"/>
              <a:t>npx</a:t>
            </a:r>
            <a:r>
              <a:rPr lang="en-US" sz="1800" dirty="0"/>
              <a:t> prettier [options] [file/</a:t>
            </a:r>
            <a:r>
              <a:rPr lang="en-US" sz="1800" dirty="0" err="1"/>
              <a:t>dir</a:t>
            </a:r>
            <a:r>
              <a:rPr lang="en-US" sz="1800" dirty="0"/>
              <a:t> …]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1800" dirty="0"/>
              <a:t>ex: </a:t>
            </a:r>
            <a:r>
              <a:rPr lang="en-US" sz="1800" dirty="0" err="1"/>
              <a:t>npx</a:t>
            </a:r>
            <a:r>
              <a:rPr lang="en-US" sz="1800" dirty="0"/>
              <a:t> prettier –write .</a:t>
            </a:r>
          </a:p>
          <a:p>
            <a:pPr marL="514350" lvl="1" indent="-285750">
              <a:buFont typeface="Wingdings" panose="05000000000000000000" pitchFamily="2" charset="2"/>
              <a:buChar char="à"/>
            </a:pPr>
            <a:r>
              <a:rPr lang="en-US" sz="1800" dirty="0">
                <a:sym typeface="Wingdings" panose="05000000000000000000" pitchFamily="2" charset="2"/>
              </a:rPr>
              <a:t>the –write flag overwrites existing files with the formatted code</a:t>
            </a:r>
          </a:p>
          <a:p>
            <a:pPr marL="514350" lvl="1" indent="-285750">
              <a:buFont typeface="Wingdings" panose="05000000000000000000" pitchFamily="2" charset="2"/>
              <a:buChar char="à"/>
            </a:pPr>
            <a:r>
              <a:rPr lang="en-US" sz="1800" dirty="0">
                <a:sym typeface="Wingdings" panose="05000000000000000000" pitchFamily="2" charset="2"/>
              </a:rPr>
              <a:t>the . Targets the current directory and subdirectories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ym typeface="Wingdings" panose="05000000000000000000" pitchFamily="2" charset="2"/>
              </a:rPr>
              <a:t>Prettier will reprint the code to enforce a consist </a:t>
            </a:r>
            <a:r>
              <a:rPr lang="en-US" sz="1800" dirty="0">
                <a:solidFill>
                  <a:schemeClr val="accent6"/>
                </a:solidFill>
                <a:sym typeface="Wingdings" panose="05000000000000000000" pitchFamily="2" charset="2"/>
              </a:rPr>
              <a:t>style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ym typeface="Wingdings" panose="05000000000000000000" pitchFamily="2" charset="2"/>
              </a:rPr>
              <a:t>does not affect the behavior of the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F6155-37AF-E746-B721-9123D5BC3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F6427D-1C6E-7D34-8686-E8935F1E0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950582"/>
            <a:ext cx="5786907" cy="12254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99468D-2831-5D5D-CA8A-4017F339A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251" y="3267403"/>
            <a:ext cx="4414541" cy="246516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ACD6AF5-1F11-3085-2CBF-4E2642A072DC}"/>
              </a:ext>
            </a:extLst>
          </p:cNvPr>
          <p:cNvCxnSpPr>
            <a:stCxn id="11" idx="2"/>
          </p:cNvCxnSpPr>
          <p:nvPr/>
        </p:nvCxnSpPr>
        <p:spPr>
          <a:xfrm flipH="1">
            <a:off x="9066882" y="2176044"/>
            <a:ext cx="17060" cy="897662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098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4F1C-0BE3-180E-D1CC-F82D335193FC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19050">
            <a:solidFill>
              <a:schemeClr val="accent1"/>
            </a:solidFill>
          </a:ln>
        </p:spPr>
        <p:txBody>
          <a:bodyPr anchor="ctr">
            <a:normAutofit fontScale="90000"/>
          </a:bodyPr>
          <a:lstStyle/>
          <a:p>
            <a:r>
              <a:rPr lang="en-US" dirty="0"/>
              <a:t>Potential Uses in Capstone Projects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30655-7199-7FA6-08C3-A1AF947BD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004CDC-F58A-48F0-894F-4C6BB6BF6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 w="12700">
            <a:solidFill>
              <a:schemeClr val="accent6"/>
            </a:solidFill>
          </a:ln>
        </p:spPr>
        <p:txBody>
          <a:bodyPr anchor="ctr">
            <a:normAutofit/>
          </a:bodyPr>
          <a:lstStyle/>
          <a:p>
            <a:r>
              <a:rPr lang="en-US" sz="3600" dirty="0"/>
              <a:t>Linters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62517FC-26C3-4B07-E22D-E5A14952EA99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Language Agnostic: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MegaLinter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chemeClr val="accent3"/>
                </a:solidFill>
              </a:rPr>
              <a:t>Go: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golint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  <a:p>
            <a:r>
              <a:rPr lang="en-US" dirty="0">
                <a:solidFill>
                  <a:schemeClr val="accent3"/>
                </a:solidFill>
              </a:rPr>
              <a:t>JavaScript: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eslint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  <a:p>
            <a:r>
              <a:rPr lang="en-US" dirty="0">
                <a:solidFill>
                  <a:schemeClr val="accent3"/>
                </a:solidFill>
              </a:rPr>
              <a:t>TypeScript: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tslint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  <a:p>
            <a:r>
              <a:rPr lang="en-US" dirty="0">
                <a:solidFill>
                  <a:schemeClr val="accent3"/>
                </a:solidFill>
              </a:rPr>
              <a:t>Python: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pylint</a:t>
            </a:r>
            <a:r>
              <a:rPr lang="en-US" dirty="0"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728373-5650-CE82-7CE9-5A4E282A1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solidFill>
              <a:schemeClr val="accent6"/>
            </a:solidFill>
          </a:ln>
        </p:spPr>
        <p:txBody>
          <a:bodyPr>
            <a:normAutofit/>
          </a:bodyPr>
          <a:lstStyle/>
          <a:p>
            <a:r>
              <a:rPr lang="en-US" sz="3600" dirty="0"/>
              <a:t>Style Checkers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256F470-70AF-571D-07DB-933A5C51FE40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Prettier: supports JavaScript, TypeScript, HTML, CSS, and more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/>
              <a:t>Pylint</a:t>
            </a:r>
            <a:r>
              <a:rPr lang="en-US" dirty="0"/>
              <a:t>: enforces code standards and flags code smells, in addition to checking for errors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Checkstyle: used for enforcing code standards in Java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.NET code style analysis</a:t>
            </a: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09479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4576977-9824-2EA0-294D-0DF00ED92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35F8B-F089-4335-0D77-F07498771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CD2E4F-CD6B-9435-C225-0E78154FCCF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Linters: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/>
              <a:t>a developer tool that improves </a:t>
            </a:r>
            <a:r>
              <a:rPr lang="en-US" sz="2000" dirty="0">
                <a:solidFill>
                  <a:schemeClr val="accent3"/>
                </a:solidFill>
              </a:rPr>
              <a:t>code quality </a:t>
            </a:r>
            <a:r>
              <a:rPr lang="en-US" sz="2000" dirty="0"/>
              <a:t>by analyzing code for errors, vulnerabilities, and stylistic issues </a:t>
            </a:r>
            <a:endParaRPr lang="en-US" sz="2000" dirty="0">
              <a:solidFill>
                <a:schemeClr val="accent3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</a:pPr>
            <a:endParaRPr lang="en-US" sz="2000" dirty="0">
              <a:solidFill>
                <a:schemeClr val="accent3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000" b="1" dirty="0"/>
              <a:t>Style Checkers:</a:t>
            </a:r>
          </a:p>
          <a:p>
            <a:pPr marL="28575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enforce a </a:t>
            </a:r>
            <a:r>
              <a:rPr lang="en-US" sz="2000" dirty="0">
                <a:solidFill>
                  <a:schemeClr val="accent3"/>
                </a:solidFill>
              </a:rPr>
              <a:t>consistent style</a:t>
            </a:r>
            <a:r>
              <a:rPr lang="en-US" sz="2000" dirty="0"/>
              <a:t> by detecting violations of predefined style rules</a:t>
            </a:r>
          </a:p>
          <a:p>
            <a:pPr marL="28575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makes programmers more productive</a:t>
            </a:r>
          </a:p>
          <a:p>
            <a:pPr marL="28575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US" sz="2000" dirty="0"/>
              <a:t>enforcing standards can help avoid errors</a:t>
            </a:r>
            <a:endParaRPr lang="en-US" sz="2000" dirty="0">
              <a:solidFill>
                <a:schemeClr val="accent3"/>
              </a:solidFill>
            </a:endParaRPr>
          </a:p>
          <a:p>
            <a:pPr marL="28575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endParaRPr lang="en-US" sz="2000" dirty="0"/>
          </a:p>
        </p:txBody>
      </p:sp>
      <p:pic>
        <p:nvPicPr>
          <p:cNvPr id="12" name="Picture 11" descr="File type light prettier - Free vector icons on creazilla.com">
            <a:extLst>
              <a:ext uri="{FF2B5EF4-FFF2-40B4-BE49-F238E27FC236}">
                <a16:creationId xmlns:a16="http://schemas.microsoft.com/office/drawing/2014/main" id="{26710C43-D908-4F2E-A799-435CCE4D6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03" y="3516087"/>
            <a:ext cx="2942419" cy="2942419"/>
          </a:xfrm>
          <a:prstGeom prst="rect">
            <a:avLst/>
          </a:prstGeom>
        </p:spPr>
      </p:pic>
      <p:pic>
        <p:nvPicPr>
          <p:cNvPr id="13" name="Picture 12" descr="What is ESLint and How to Use ESLint to Detect and Fix Code for JavaScript  Projects">
            <a:extLst>
              <a:ext uri="{FF2B5EF4-FFF2-40B4-BE49-F238E27FC236}">
                <a16:creationId xmlns:a16="http://schemas.microsoft.com/office/drawing/2014/main" id="{A1F59BBD-62C1-BA81-E431-E840C7D207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72" t="27989" r="17460" b="28836"/>
          <a:stretch>
            <a:fillRect/>
          </a:stretch>
        </p:blipFill>
        <p:spPr>
          <a:xfrm>
            <a:off x="1059954" y="1950932"/>
            <a:ext cx="2942420" cy="151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782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48914" y="1277166"/>
            <a:ext cx="6713318" cy="1371992"/>
          </a:xfrm>
          <a:ln w="19050">
            <a:solidFill>
              <a:schemeClr val="accent6"/>
            </a:solidFill>
          </a:ln>
        </p:spPr>
        <p:txBody>
          <a:bodyPr anchor="ctr">
            <a:normAutofit/>
          </a:bodyPr>
          <a:lstStyle/>
          <a:p>
            <a:r>
              <a:rPr lang="en-US" sz="1800" dirty="0">
                <a:hlinkClick r:id="rId2"/>
              </a:rPr>
              <a:t>https://www.sonarsource.com/resources/library/linter/</a:t>
            </a:r>
            <a:r>
              <a:rPr lang="en-US" sz="1800" dirty="0"/>
              <a:t> </a:t>
            </a:r>
          </a:p>
          <a:p>
            <a:r>
              <a:rPr lang="en-US" sz="1800" dirty="0">
                <a:hlinkClick r:id="rId3"/>
              </a:rPr>
              <a:t>https://www.semanticdesigns.com/Products/StyleChecker/</a:t>
            </a:r>
            <a:endParaRPr lang="en-US" sz="1800" dirty="0"/>
          </a:p>
          <a:p>
            <a:r>
              <a:rPr lang="en-US" sz="1800" dirty="0">
                <a:hlinkClick r:id="rId4"/>
              </a:rPr>
              <a:t>https://en.wikipedia.org/wiki/Checkstyle</a:t>
            </a:r>
            <a:r>
              <a:rPr lang="en-US" sz="1800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032F8-92FC-BD1A-A9AF-986FE04C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 dirty="0"/>
          </a:p>
        </p:txBody>
      </p:sp>
      <p:pic>
        <p:nvPicPr>
          <p:cNvPr id="10" name="Picture 9" descr="Code Smells: When Your Code Starts to Stink (and How to Freshen It Up) | by  Lalit Mehra | CodeX | Medium">
            <a:extLst>
              <a:ext uri="{FF2B5EF4-FFF2-40B4-BE49-F238E27FC236}">
                <a16:creationId xmlns:a16="http://schemas.microsoft.com/office/drawing/2014/main" id="{459DE111-143A-5479-291B-8686896EE7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986234"/>
            <a:ext cx="5142458" cy="342708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610</TotalTime>
  <Words>524</Words>
  <Application>Microsoft Office PowerPoint</Application>
  <PresentationFormat>Widescreen</PresentationFormat>
  <Paragraphs>86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Neue Haas Grotesk Text Pro</vt:lpstr>
      <vt:lpstr>Wingdings</vt:lpstr>
      <vt:lpstr>Axis</vt:lpstr>
      <vt:lpstr>Linters &amp;  Style Checkers</vt:lpstr>
      <vt:lpstr>Agenda</vt:lpstr>
      <vt:lpstr>Introduction</vt:lpstr>
      <vt:lpstr>History</vt:lpstr>
      <vt:lpstr>Demo: ESLint</vt:lpstr>
      <vt:lpstr>Demo: Prettier</vt:lpstr>
      <vt:lpstr>Potential Uses in Capstone Projects</vt:lpstr>
      <vt:lpstr>Summary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Morgan Adele Blanck</dc:creator>
  <cp:lastModifiedBy>Morgan Adele Blanck</cp:lastModifiedBy>
  <cp:revision>7</cp:revision>
  <dcterms:created xsi:type="dcterms:W3CDTF">2026-10-03T17:08:52Z</dcterms:created>
  <dcterms:modified xsi:type="dcterms:W3CDTF">2026-10-06T14:14:50Z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
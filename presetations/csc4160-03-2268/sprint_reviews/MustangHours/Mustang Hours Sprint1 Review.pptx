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C74FFF0-D99E-4C8A-A0E9-C1141B4D78FB}">
  <a:tblStyle styleId="{AC74FFF0-D99E-4C8A-A0E9-C1141B4D78F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bee02ef7c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fbee02ef7c_4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fbee02ef7c_4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cpsecapstone.github.io/MustangHour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4734"/>
        </a:solidFill>
      </p:bgPr>
    </p:bg>
    <p:spTree>
      <p:nvGrpSpPr>
        <p:cNvPr id="15" name="Shape 15"/>
        <p:cNvGrpSpPr/>
        <p:nvPr/>
      </p:nvGrpSpPr>
      <p:grpSpPr>
        <a:xfrm>
          <a:off x="0" y="0"/>
          <a:ext cx="0" cy="0"/>
          <a:chOff x="0" y="0"/>
          <a:chExt cx="0" cy="0"/>
        </a:xfrm>
      </p:grpSpPr>
      <p:sp>
        <p:nvSpPr>
          <p:cNvPr id="16" name="Google Shape;16;p3"/>
          <p:cNvSpPr/>
          <p:nvPr/>
        </p:nvSpPr>
        <p:spPr>
          <a:xfrm>
            <a:off x="8778240" y="-1097280"/>
            <a:ext cx="4572000" cy="4572000"/>
          </a:xfrm>
          <a:prstGeom prst="ellipse">
            <a:avLst/>
          </a:prstGeom>
          <a:solidFill>
            <a:srgbClr val="2E6B4F"/>
          </a:solidFill>
          <a:ln cap="flat" cmpd="sng" w="12700">
            <a:solidFill>
              <a:srgbClr val="2E6B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241280" y="4206240"/>
            <a:ext cx="3108960" cy="3108960"/>
          </a:xfrm>
          <a:prstGeom prst="ellipse">
            <a:avLst/>
          </a:prstGeom>
          <a:solidFill>
            <a:srgbClr val="BD8B13"/>
          </a:solidFill>
          <a:ln cap="flat" cmpd="sng" w="12700">
            <a:solidFill>
              <a:srgbClr val="BD8B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nvSpPr>
        <p:spPr>
          <a:xfrm>
            <a:off x="731520" y="2011680"/>
            <a:ext cx="8229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Mustang Hours</a:t>
            </a:r>
            <a:endParaRPr b="0" i="0" sz="5400" u="none" cap="none" strike="noStrike">
              <a:solidFill>
                <a:schemeClr val="dk1"/>
              </a:solidFill>
              <a:latin typeface="Calibri"/>
              <a:ea typeface="Calibri"/>
              <a:cs typeface="Calibri"/>
              <a:sym typeface="Calibri"/>
            </a:endParaRPr>
          </a:p>
        </p:txBody>
      </p:sp>
      <p:sp>
        <p:nvSpPr>
          <p:cNvPr id="19" name="Google Shape;19;p3"/>
          <p:cNvSpPr txBox="1"/>
          <p:nvPr/>
        </p:nvSpPr>
        <p:spPr>
          <a:xfrm>
            <a:off x="731520" y="2834645"/>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D48B"/>
              </a:buClr>
              <a:buSzPts val="3000"/>
              <a:buFont typeface="Cambria"/>
              <a:buNone/>
            </a:pPr>
            <a:r>
              <a:rPr b="0" i="0" lang="en-US" sz="3000" u="none" cap="none" strike="noStrike">
                <a:solidFill>
                  <a:srgbClr val="F3D48B"/>
                </a:solidFill>
                <a:latin typeface="Cambria"/>
                <a:ea typeface="Cambria"/>
                <a:cs typeface="Cambria"/>
                <a:sym typeface="Cambria"/>
              </a:rPr>
              <a:t>Sprint 1 Review</a:t>
            </a:r>
            <a:endParaRPr b="0" i="0" sz="3000" u="none" cap="none" strike="noStrike">
              <a:solidFill>
                <a:schemeClr val="dk1"/>
              </a:solidFill>
              <a:latin typeface="Calibri"/>
              <a:ea typeface="Calibri"/>
              <a:cs typeface="Calibri"/>
              <a:sym typeface="Calibri"/>
            </a:endParaRPr>
          </a:p>
        </p:txBody>
      </p:sp>
      <p:sp>
        <p:nvSpPr>
          <p:cNvPr id="20" name="Google Shape;20;p3"/>
          <p:cNvSpPr txBox="1"/>
          <p:nvPr/>
        </p:nvSpPr>
        <p:spPr>
          <a:xfrm>
            <a:off x="731520" y="3840480"/>
            <a:ext cx="9144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6DB"/>
              </a:buClr>
              <a:buSzPts val="1600"/>
              <a:buFont typeface="Calibri"/>
              <a:buNone/>
            </a:pPr>
            <a:r>
              <a:rPr b="0" i="0" lang="en-US" sz="1600" u="none" cap="none" strike="noStrike">
                <a:solidFill>
                  <a:srgbClr val="D6E6DB"/>
                </a:solidFill>
                <a:latin typeface="Calibri"/>
                <a:ea typeface="Calibri"/>
                <a:cs typeface="Calibri"/>
                <a:sym typeface="Calibri"/>
              </a:rPr>
              <a:t>Sep 23, 2026  ·  Cal Poly SE Capstone  ·  Sponsor: Dr. John Clements</a:t>
            </a:r>
            <a:endParaRPr b="0" i="0" sz="1600" u="none" cap="none" strike="noStrike">
              <a:solidFill>
                <a:srgbClr val="D6E6DB"/>
              </a:solidFill>
              <a:latin typeface="Calibri"/>
              <a:ea typeface="Calibri"/>
              <a:cs typeface="Calibri"/>
              <a:sym typeface="Calibri"/>
            </a:endParaRPr>
          </a:p>
          <a:p>
            <a:pPr indent="0" lvl="0" marL="0" marR="0" rtl="0" algn="l">
              <a:spcBef>
                <a:spcPts val="0"/>
              </a:spcBef>
              <a:spcAft>
                <a:spcPts val="0"/>
              </a:spcAft>
              <a:buClr>
                <a:srgbClr val="D6E6DB"/>
              </a:buClr>
              <a:buSzPts val="1600"/>
              <a:buFont typeface="Calibri"/>
              <a:buNone/>
            </a:pPr>
            <a:r>
              <a:t/>
            </a:r>
            <a:endParaRPr sz="1600">
              <a:solidFill>
                <a:srgbClr val="D6E6DB"/>
              </a:solidFill>
              <a:latin typeface="Calibri"/>
              <a:ea typeface="Calibri"/>
              <a:cs typeface="Calibri"/>
              <a:sym typeface="Calibri"/>
            </a:endParaRPr>
          </a:p>
          <a:p>
            <a:pPr indent="0" lvl="0" marL="0" marR="0" rtl="0" algn="l">
              <a:spcBef>
                <a:spcPts val="0"/>
              </a:spcBef>
              <a:spcAft>
                <a:spcPts val="0"/>
              </a:spcAft>
              <a:buClr>
                <a:srgbClr val="D6E6DB"/>
              </a:buClr>
              <a:buSzPts val="1600"/>
              <a:buFont typeface="Calibri"/>
              <a:buNone/>
            </a:pPr>
            <a:r>
              <a:rPr lang="en-US" sz="1600">
                <a:solidFill>
                  <a:srgbClr val="D6E6DB"/>
                </a:solidFill>
                <a:latin typeface="Calibri"/>
                <a:ea typeface="Calibri"/>
                <a:cs typeface="Calibri"/>
                <a:sym typeface="Calibri"/>
              </a:rPr>
              <a:t>Members: Ryan Tran, Owen Sam, Aaron Lee, Arjan Ellingson</a:t>
            </a:r>
            <a:endParaRPr sz="1600">
              <a:solidFill>
                <a:srgbClr val="D6E6DB"/>
              </a:solidFill>
              <a:latin typeface="Calibri"/>
              <a:ea typeface="Calibri"/>
              <a:cs typeface="Calibri"/>
              <a:sym typeface="Calibri"/>
            </a:endParaRPr>
          </a:p>
          <a:p>
            <a:pPr indent="0" lvl="0" marL="0" marR="0" rtl="0" algn="l">
              <a:spcBef>
                <a:spcPts val="0"/>
              </a:spcBef>
              <a:spcAft>
                <a:spcPts val="0"/>
              </a:spcAft>
              <a:buClr>
                <a:srgbClr val="D6E6DB"/>
              </a:buClr>
              <a:buSzPts val="1600"/>
              <a:buFont typeface="Calibri"/>
              <a:buNone/>
            </a:pPr>
            <a:r>
              <a:t/>
            </a:r>
            <a:endParaRPr sz="1600">
              <a:solidFill>
                <a:srgbClr val="D6E6DB"/>
              </a:solidFill>
              <a:latin typeface="Calibri"/>
              <a:ea typeface="Calibri"/>
              <a:cs typeface="Calibri"/>
              <a:sym typeface="Calibri"/>
            </a:endParaRPr>
          </a:p>
          <a:p>
            <a:pPr indent="0" lvl="0" marL="0" marR="0" rtl="0" algn="l">
              <a:spcBef>
                <a:spcPts val="0"/>
              </a:spcBef>
              <a:spcAft>
                <a:spcPts val="0"/>
              </a:spcAft>
              <a:buClr>
                <a:srgbClr val="D6E6DB"/>
              </a:buClr>
              <a:buSzPts val="1600"/>
              <a:buFont typeface="Calibri"/>
              <a:buNone/>
            </a:pPr>
            <a:r>
              <a:t/>
            </a:r>
            <a:endParaRPr sz="1600">
              <a:solidFill>
                <a:srgbClr val="D6E6DB"/>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4"/>
          <p:cNvSpPr txBox="1"/>
          <p:nvPr/>
        </p:nvSpPr>
        <p:spPr>
          <a:xfrm>
            <a:off x="548640" y="36576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3600"/>
              <a:buFont typeface="Cambria"/>
              <a:buNone/>
            </a:pPr>
            <a:r>
              <a:rPr b="1" i="0" lang="en-US" sz="3600" u="none" cap="none" strike="noStrike">
                <a:solidFill>
                  <a:srgbClr val="154734"/>
                </a:solidFill>
                <a:latin typeface="Cambria"/>
                <a:ea typeface="Cambria"/>
                <a:cs typeface="Cambria"/>
                <a:sym typeface="Cambria"/>
              </a:rPr>
              <a:t>Project Vision</a:t>
            </a:r>
            <a:endParaRPr b="0" i="0" sz="3600" u="none" cap="none" strike="noStrike">
              <a:solidFill>
                <a:schemeClr val="dk1"/>
              </a:solidFill>
              <a:latin typeface="Calibri"/>
              <a:ea typeface="Calibri"/>
              <a:cs typeface="Calibri"/>
              <a:sym typeface="Calibri"/>
            </a:endParaRPr>
          </a:p>
        </p:txBody>
      </p:sp>
      <p:sp>
        <p:nvSpPr>
          <p:cNvPr id="27" name="Google Shape;27;p4"/>
          <p:cNvSpPr/>
          <p:nvPr/>
        </p:nvSpPr>
        <p:spPr>
          <a:xfrm>
            <a:off x="548640" y="1371600"/>
            <a:ext cx="11064240" cy="1737360"/>
          </a:xfrm>
          <a:prstGeom prst="roundRect">
            <a:avLst>
              <a:gd fmla="val 6316" name="adj"/>
            </a:avLst>
          </a:prstGeom>
          <a:solidFill>
            <a:srgbClr val="154734"/>
          </a:solidFill>
          <a:ln cap="flat" cmpd="sng" w="12700">
            <a:solidFill>
              <a:srgbClr val="1547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txBox="1"/>
          <p:nvPr/>
        </p:nvSpPr>
        <p:spPr>
          <a:xfrm>
            <a:off x="868680" y="1463040"/>
            <a:ext cx="1042416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For </a:t>
            </a:r>
            <a:r>
              <a:rPr b="1" i="0" lang="en-US" sz="1800" u="none" cap="none" strike="noStrike">
                <a:solidFill>
                  <a:srgbClr val="F3D48B"/>
                </a:solidFill>
                <a:latin typeface="Calibri"/>
                <a:ea typeface="Calibri"/>
                <a:cs typeface="Calibri"/>
                <a:sym typeface="Calibri"/>
              </a:rPr>
              <a:t>Cal Poly students, instructors, and department staff</a:t>
            </a:r>
            <a:r>
              <a:rPr b="0" i="0" lang="en-US" sz="1800" u="none" cap="none" strike="noStrike">
                <a:solidFill>
                  <a:srgbClr val="FFFFFF"/>
                </a:solidFill>
                <a:latin typeface="Calibri"/>
                <a:ea typeface="Calibri"/>
                <a:cs typeface="Calibri"/>
                <a:sym typeface="Calibri"/>
              </a:rPr>
              <a:t> who need to share and find office hours, </a:t>
            </a:r>
            <a:r>
              <a:rPr b="1" i="0" lang="en-US" sz="1800" u="none" cap="none" strike="noStrike">
                <a:solidFill>
                  <a:srgbClr val="F3D48B"/>
                </a:solidFill>
                <a:latin typeface="Calibri"/>
                <a:ea typeface="Calibri"/>
                <a:cs typeface="Calibri"/>
                <a:sym typeface="Calibri"/>
              </a:rPr>
              <a:t>Mustang Hours</a:t>
            </a:r>
            <a:r>
              <a:rPr b="0" i="0" lang="en-US" sz="1800" u="none" cap="none" strike="noStrike">
                <a:solidFill>
                  <a:srgbClr val="FFFFFF"/>
                </a:solidFill>
                <a:latin typeface="Calibri"/>
                <a:ea typeface="Calibri"/>
                <a:cs typeface="Calibri"/>
                <a:sym typeface="Calibri"/>
              </a:rPr>
              <a:t> is a small, open-source office-hours directory that puts every instructor’s hours, office, and format (in person or Zoom) in one place. Unlike today’s department pages, where every department posts hours differently, it keeps the data consistent and asks as little of instructors as possible.</a:t>
            </a:r>
            <a:endParaRPr b="0" i="0" sz="1800" u="none" cap="none" strike="noStrike">
              <a:solidFill>
                <a:schemeClr val="dk1"/>
              </a:solidFill>
              <a:latin typeface="Calibri"/>
              <a:ea typeface="Calibri"/>
              <a:cs typeface="Calibri"/>
              <a:sym typeface="Calibri"/>
            </a:endParaRPr>
          </a:p>
        </p:txBody>
      </p:sp>
      <p:sp>
        <p:nvSpPr>
          <p:cNvPr id="29" name="Google Shape;29;p4"/>
          <p:cNvSpPr/>
          <p:nvPr/>
        </p:nvSpPr>
        <p:spPr>
          <a:xfrm>
            <a:off x="548640" y="3474720"/>
            <a:ext cx="3566160" cy="2377440"/>
          </a:xfrm>
          <a:prstGeom prst="roundRect">
            <a:avLst>
              <a:gd fmla="val 4615" name="adj"/>
            </a:avLst>
          </a:prstGeom>
          <a:solidFill>
            <a:srgbClr val="EAF2EC"/>
          </a:solidFill>
          <a:ln cap="flat" cmpd="sng" w="12700">
            <a:solidFill>
              <a:srgbClr val="EAF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822960" y="3703320"/>
            <a:ext cx="457200" cy="457200"/>
          </a:xfrm>
          <a:prstGeom prst="ellipse">
            <a:avLst/>
          </a:prstGeom>
          <a:solidFill>
            <a:srgbClr val="BD8B13"/>
          </a:solidFill>
          <a:ln cap="flat" cmpd="sng" w="12700">
            <a:solidFill>
              <a:srgbClr val="BD8B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nvSpPr>
        <p:spPr>
          <a:xfrm>
            <a:off x="822960" y="3703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2" name="Google Shape;32;p4"/>
          <p:cNvSpPr txBox="1"/>
          <p:nvPr/>
        </p:nvSpPr>
        <p:spPr>
          <a:xfrm>
            <a:off x="1417320" y="3703320"/>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2200"/>
              <a:buFont typeface="Cambria"/>
              <a:buNone/>
            </a:pPr>
            <a:r>
              <a:rPr b="1" i="0" lang="en-US" sz="2200" u="none" cap="none" strike="noStrike">
                <a:solidFill>
                  <a:srgbClr val="154734"/>
                </a:solidFill>
                <a:latin typeface="Cambria"/>
                <a:ea typeface="Cambria"/>
                <a:cs typeface="Cambria"/>
                <a:sym typeface="Cambria"/>
              </a:rPr>
              <a:t>Input</a:t>
            </a:r>
            <a:endParaRPr b="0" i="0" sz="2200" u="none" cap="none" strike="noStrike">
              <a:solidFill>
                <a:schemeClr val="dk1"/>
              </a:solidFill>
              <a:latin typeface="Calibri"/>
              <a:ea typeface="Calibri"/>
              <a:cs typeface="Calibri"/>
              <a:sym typeface="Calibri"/>
            </a:endParaRPr>
          </a:p>
        </p:txBody>
      </p:sp>
      <p:sp>
        <p:nvSpPr>
          <p:cNvPr id="33" name="Google Shape;33;p4"/>
          <p:cNvSpPr txBox="1"/>
          <p:nvPr/>
        </p:nvSpPr>
        <p:spPr>
          <a:xfrm>
            <a:off x="822960" y="4343400"/>
            <a:ext cx="3108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24"/>
              </a:buClr>
              <a:buSzPts val="1500"/>
              <a:buFont typeface="Calibri"/>
              <a:buNone/>
            </a:pPr>
            <a:r>
              <a:rPr b="1" i="0" lang="en-US" sz="1500" u="none" cap="none" strike="noStrike">
                <a:solidFill>
                  <a:srgbClr val="1F2A24"/>
                </a:solidFill>
                <a:latin typeface="Calibri"/>
                <a:ea typeface="Calibri"/>
                <a:cs typeface="Calibri"/>
                <a:sym typeface="Calibri"/>
              </a:rPr>
              <a:t>How instructors supply hours</a:t>
            </a:r>
            <a:endParaRPr b="0" i="0" sz="1500" u="none" cap="none" strike="noStrike">
              <a:solidFill>
                <a:schemeClr val="dk1"/>
              </a:solidFill>
              <a:latin typeface="Calibri"/>
              <a:ea typeface="Calibri"/>
              <a:cs typeface="Calibri"/>
              <a:sym typeface="Calibri"/>
            </a:endParaRPr>
          </a:p>
        </p:txBody>
      </p:sp>
      <p:sp>
        <p:nvSpPr>
          <p:cNvPr id="34" name="Google Shape;34;p4"/>
          <p:cNvSpPr txBox="1"/>
          <p:nvPr/>
        </p:nvSpPr>
        <p:spPr>
          <a:xfrm>
            <a:off x="822960" y="4800600"/>
            <a:ext cx="31089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400"/>
              <a:buFont typeface="Calibri"/>
              <a:buNone/>
            </a:pPr>
            <a:r>
              <a:rPr b="0" i="0" lang="en-US" sz="1400" u="none" cap="none" strike="noStrike">
                <a:solidFill>
                  <a:srgbClr val="5E6B63"/>
                </a:solidFill>
                <a:latin typeface="Calibri"/>
                <a:ea typeface="Calibri"/>
                <a:cs typeface="Calibri"/>
                <a:sym typeface="Calibri"/>
              </a:rPr>
              <a:t>Scraper today; Microsoft Form, calendar, or time picker under study</a:t>
            </a:r>
            <a:endParaRPr b="0" i="0" sz="1400" u="none" cap="none" strike="noStrike">
              <a:solidFill>
                <a:schemeClr val="dk1"/>
              </a:solidFill>
              <a:latin typeface="Calibri"/>
              <a:ea typeface="Calibri"/>
              <a:cs typeface="Calibri"/>
              <a:sym typeface="Calibri"/>
            </a:endParaRPr>
          </a:p>
        </p:txBody>
      </p:sp>
      <p:sp>
        <p:nvSpPr>
          <p:cNvPr id="35" name="Google Shape;35;p4"/>
          <p:cNvSpPr/>
          <p:nvPr/>
        </p:nvSpPr>
        <p:spPr>
          <a:xfrm>
            <a:off x="4297680" y="3474720"/>
            <a:ext cx="3566160" cy="2377440"/>
          </a:xfrm>
          <a:prstGeom prst="roundRect">
            <a:avLst>
              <a:gd fmla="val 4615" name="adj"/>
            </a:avLst>
          </a:prstGeom>
          <a:solidFill>
            <a:srgbClr val="EAF2EC"/>
          </a:solidFill>
          <a:ln cap="flat" cmpd="sng" w="12700">
            <a:solidFill>
              <a:srgbClr val="EAF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4572000" y="3703320"/>
            <a:ext cx="457200" cy="457200"/>
          </a:xfrm>
          <a:prstGeom prst="ellipse">
            <a:avLst/>
          </a:prstGeom>
          <a:solidFill>
            <a:srgbClr val="BD8B13"/>
          </a:solidFill>
          <a:ln cap="flat" cmpd="sng" w="12700">
            <a:solidFill>
              <a:srgbClr val="BD8B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txBox="1"/>
          <p:nvPr/>
        </p:nvSpPr>
        <p:spPr>
          <a:xfrm>
            <a:off x="4572000" y="3703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38" name="Google Shape;38;p4"/>
          <p:cNvSpPr txBox="1"/>
          <p:nvPr/>
        </p:nvSpPr>
        <p:spPr>
          <a:xfrm>
            <a:off x="5166360" y="3703320"/>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2200"/>
              <a:buFont typeface="Cambria"/>
              <a:buNone/>
            </a:pPr>
            <a:r>
              <a:rPr b="1" i="0" lang="en-US" sz="2200" u="none" cap="none" strike="noStrike">
                <a:solidFill>
                  <a:srgbClr val="154734"/>
                </a:solidFill>
                <a:latin typeface="Cambria"/>
                <a:ea typeface="Cambria"/>
                <a:cs typeface="Cambria"/>
                <a:sym typeface="Cambria"/>
              </a:rPr>
              <a:t>Manage</a:t>
            </a:r>
            <a:endParaRPr b="0" i="0" sz="2200" u="none" cap="none" strike="noStrike">
              <a:solidFill>
                <a:schemeClr val="dk1"/>
              </a:solidFill>
              <a:latin typeface="Calibri"/>
              <a:ea typeface="Calibri"/>
              <a:cs typeface="Calibri"/>
              <a:sym typeface="Calibri"/>
            </a:endParaRPr>
          </a:p>
        </p:txBody>
      </p:sp>
      <p:sp>
        <p:nvSpPr>
          <p:cNvPr id="39" name="Google Shape;39;p4"/>
          <p:cNvSpPr txBox="1"/>
          <p:nvPr/>
        </p:nvSpPr>
        <p:spPr>
          <a:xfrm>
            <a:off x="4572000" y="4343400"/>
            <a:ext cx="3108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24"/>
              </a:buClr>
              <a:buSzPts val="1500"/>
              <a:buFont typeface="Calibri"/>
              <a:buNone/>
            </a:pPr>
            <a:r>
              <a:rPr b="1" i="0" lang="en-US" sz="1500" u="none" cap="none" strike="noStrike">
                <a:solidFill>
                  <a:srgbClr val="1F2A24"/>
                </a:solidFill>
                <a:latin typeface="Calibri"/>
                <a:ea typeface="Calibri"/>
                <a:cs typeface="Calibri"/>
                <a:sym typeface="Calibri"/>
              </a:rPr>
              <a:t>How department staff fix and update</a:t>
            </a:r>
            <a:endParaRPr b="0" i="0" sz="1500" u="none" cap="none" strike="noStrike">
              <a:solidFill>
                <a:schemeClr val="dk1"/>
              </a:solidFill>
              <a:latin typeface="Calibri"/>
              <a:ea typeface="Calibri"/>
              <a:cs typeface="Calibri"/>
              <a:sym typeface="Calibri"/>
            </a:endParaRPr>
          </a:p>
        </p:txBody>
      </p:sp>
      <p:sp>
        <p:nvSpPr>
          <p:cNvPr id="40" name="Google Shape;40;p4"/>
          <p:cNvSpPr txBox="1"/>
          <p:nvPr/>
        </p:nvSpPr>
        <p:spPr>
          <a:xfrm>
            <a:off x="4572000" y="4800600"/>
            <a:ext cx="31089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400"/>
              <a:buFont typeface="Calibri"/>
              <a:buNone/>
            </a:pPr>
            <a:r>
              <a:rPr b="0" i="0" lang="en-US" sz="1400" u="none" cap="none" strike="noStrike">
                <a:solidFill>
                  <a:srgbClr val="5E6B63"/>
                </a:solidFill>
                <a:latin typeface="Calibri"/>
                <a:ea typeface="Calibri"/>
                <a:cs typeface="Calibri"/>
                <a:sym typeface="Calibri"/>
              </a:rPr>
              <a:t>Edit, correct, add, remove entries</a:t>
            </a:r>
            <a:endParaRPr b="0" i="0" sz="1400" u="none" cap="none" strike="noStrike">
              <a:solidFill>
                <a:schemeClr val="dk1"/>
              </a:solidFill>
              <a:latin typeface="Calibri"/>
              <a:ea typeface="Calibri"/>
              <a:cs typeface="Calibri"/>
              <a:sym typeface="Calibri"/>
            </a:endParaRPr>
          </a:p>
        </p:txBody>
      </p:sp>
      <p:sp>
        <p:nvSpPr>
          <p:cNvPr id="41" name="Google Shape;41;p4"/>
          <p:cNvSpPr/>
          <p:nvPr/>
        </p:nvSpPr>
        <p:spPr>
          <a:xfrm>
            <a:off x="8046720" y="3474720"/>
            <a:ext cx="3566160" cy="2377440"/>
          </a:xfrm>
          <a:prstGeom prst="roundRect">
            <a:avLst>
              <a:gd fmla="val 4615" name="adj"/>
            </a:avLst>
          </a:prstGeom>
          <a:solidFill>
            <a:srgbClr val="EAF2EC"/>
          </a:solidFill>
          <a:ln cap="flat" cmpd="sng" w="12700">
            <a:solidFill>
              <a:srgbClr val="EAF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8321040" y="3703320"/>
            <a:ext cx="457200" cy="457200"/>
          </a:xfrm>
          <a:prstGeom prst="ellipse">
            <a:avLst/>
          </a:prstGeom>
          <a:solidFill>
            <a:srgbClr val="BD8B13"/>
          </a:solidFill>
          <a:ln cap="flat" cmpd="sng" w="12700">
            <a:solidFill>
              <a:srgbClr val="BD8B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txBox="1"/>
          <p:nvPr/>
        </p:nvSpPr>
        <p:spPr>
          <a:xfrm>
            <a:off x="8321040" y="3703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4" name="Google Shape;44;p4"/>
          <p:cNvSpPr txBox="1"/>
          <p:nvPr/>
        </p:nvSpPr>
        <p:spPr>
          <a:xfrm>
            <a:off x="8915400" y="3703320"/>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2200"/>
              <a:buFont typeface="Cambria"/>
              <a:buNone/>
            </a:pPr>
            <a:r>
              <a:rPr b="1" i="0" lang="en-US" sz="2200" u="none" cap="none" strike="noStrike">
                <a:solidFill>
                  <a:srgbClr val="154734"/>
                </a:solidFill>
                <a:latin typeface="Cambria"/>
                <a:ea typeface="Cambria"/>
                <a:cs typeface="Cambria"/>
                <a:sym typeface="Cambria"/>
              </a:rPr>
              <a:t>Output</a:t>
            </a:r>
            <a:endParaRPr b="0" i="0" sz="2200" u="none" cap="none" strike="noStrike">
              <a:solidFill>
                <a:schemeClr val="dk1"/>
              </a:solidFill>
              <a:latin typeface="Calibri"/>
              <a:ea typeface="Calibri"/>
              <a:cs typeface="Calibri"/>
              <a:sym typeface="Calibri"/>
            </a:endParaRPr>
          </a:p>
        </p:txBody>
      </p:sp>
      <p:sp>
        <p:nvSpPr>
          <p:cNvPr id="45" name="Google Shape;45;p4"/>
          <p:cNvSpPr txBox="1"/>
          <p:nvPr/>
        </p:nvSpPr>
        <p:spPr>
          <a:xfrm>
            <a:off x="8321040" y="4343400"/>
            <a:ext cx="3108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24"/>
              </a:buClr>
              <a:buSzPts val="1500"/>
              <a:buFont typeface="Calibri"/>
              <a:buNone/>
            </a:pPr>
            <a:r>
              <a:rPr b="1" i="0" lang="en-US" sz="1500" u="none" cap="none" strike="noStrike">
                <a:solidFill>
                  <a:srgbClr val="1F2A24"/>
                </a:solidFill>
                <a:latin typeface="Calibri"/>
                <a:ea typeface="Calibri"/>
                <a:cs typeface="Calibri"/>
                <a:sym typeface="Calibri"/>
              </a:rPr>
              <a:t>How students find hours</a:t>
            </a:r>
            <a:endParaRPr b="0" i="0" sz="1500" u="none" cap="none" strike="noStrike">
              <a:solidFill>
                <a:schemeClr val="dk1"/>
              </a:solidFill>
              <a:latin typeface="Calibri"/>
              <a:ea typeface="Calibri"/>
              <a:cs typeface="Calibri"/>
              <a:sym typeface="Calibri"/>
            </a:endParaRPr>
          </a:p>
        </p:txBody>
      </p:sp>
      <p:sp>
        <p:nvSpPr>
          <p:cNvPr id="46" name="Google Shape;46;p4"/>
          <p:cNvSpPr txBox="1"/>
          <p:nvPr/>
        </p:nvSpPr>
        <p:spPr>
          <a:xfrm>
            <a:off x="8321040" y="4800600"/>
            <a:ext cx="31089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400"/>
              <a:buFont typeface="Calibri"/>
              <a:buNone/>
            </a:pPr>
            <a:r>
              <a:rPr b="0" i="0" lang="en-US" sz="1400" u="none" cap="none" strike="noStrike">
                <a:solidFill>
                  <a:srgbClr val="5E6B63"/>
                </a:solidFill>
                <a:latin typeface="Calibri"/>
                <a:ea typeface="Calibri"/>
                <a:cs typeface="Calibri"/>
                <a:sym typeface="Calibri"/>
              </a:rPr>
              <a:t>Searchable web page on GitHub Pages; calendar (.ics) export next</a:t>
            </a:r>
            <a:endParaRPr b="0" i="0" sz="1400" u="none" cap="none" strike="noStrike">
              <a:solidFill>
                <a:schemeClr val="dk1"/>
              </a:solidFill>
              <a:latin typeface="Calibri"/>
              <a:ea typeface="Calibri"/>
              <a:cs typeface="Calibri"/>
              <a:sym typeface="Calibri"/>
            </a:endParaRPr>
          </a:p>
        </p:txBody>
      </p:sp>
      <p:sp>
        <p:nvSpPr>
          <p:cNvPr id="47" name="Google Shape;47;p4"/>
          <p:cNvSpPr txBox="1"/>
          <p:nvPr/>
        </p:nvSpPr>
        <p:spPr>
          <a:xfrm>
            <a:off x="548640" y="6080760"/>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300"/>
              <a:buFont typeface="Calibri"/>
              <a:buNone/>
            </a:pPr>
            <a:r>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 name="Shape 52"/>
        <p:cNvGrpSpPr/>
        <p:nvPr/>
      </p:nvGrpSpPr>
      <p:grpSpPr>
        <a:xfrm>
          <a:off x="0" y="0"/>
          <a:ext cx="0" cy="0"/>
          <a:chOff x="0" y="0"/>
          <a:chExt cx="0" cy="0"/>
        </a:xfrm>
      </p:grpSpPr>
      <p:sp>
        <p:nvSpPr>
          <p:cNvPr id="53" name="Google Shape;53;p5"/>
          <p:cNvSpPr txBox="1"/>
          <p:nvPr/>
        </p:nvSpPr>
        <p:spPr>
          <a:xfrm>
            <a:off x="548640" y="36576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3600"/>
              <a:buFont typeface="Cambria"/>
              <a:buNone/>
            </a:pPr>
            <a:r>
              <a:rPr b="1" i="0" lang="en-US" sz="3600" u="none" cap="none" strike="noStrike">
                <a:solidFill>
                  <a:srgbClr val="154734"/>
                </a:solidFill>
                <a:latin typeface="Cambria"/>
                <a:ea typeface="Cambria"/>
                <a:cs typeface="Cambria"/>
                <a:sym typeface="Cambria"/>
              </a:rPr>
              <a:t>Sprint 1 Backlog</a:t>
            </a:r>
            <a:endParaRPr b="0" i="0" sz="3600" u="none" cap="none" strike="noStrike">
              <a:solidFill>
                <a:schemeClr val="dk1"/>
              </a:solidFill>
              <a:latin typeface="Calibri"/>
              <a:ea typeface="Calibri"/>
              <a:cs typeface="Calibri"/>
              <a:sym typeface="Calibri"/>
            </a:endParaRPr>
          </a:p>
        </p:txBody>
      </p:sp>
      <p:sp>
        <p:nvSpPr>
          <p:cNvPr id="54" name="Google Shape;54;p5"/>
          <p:cNvSpPr txBox="1"/>
          <p:nvPr/>
        </p:nvSpPr>
        <p:spPr>
          <a:xfrm>
            <a:off x="548640" y="105156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400"/>
              <a:buFont typeface="Calibri"/>
              <a:buNone/>
            </a:pPr>
            <a:r>
              <a:rPr b="0" i="1" lang="en-US" sz="1400" u="none" cap="none" strike="noStrike">
                <a:solidFill>
                  <a:srgbClr val="5E6B63"/>
                </a:solidFill>
                <a:latin typeface="Calibri"/>
                <a:ea typeface="Calibri"/>
                <a:cs typeface="Calibri"/>
                <a:sym typeface="Calibri"/>
              </a:rPr>
              <a:t>14 work items · 15 story points estimated</a:t>
            </a:r>
            <a:endParaRPr b="0" i="0" sz="1400" u="none" cap="none" strike="noStrike">
              <a:solidFill>
                <a:schemeClr val="dk1"/>
              </a:solidFill>
              <a:latin typeface="Calibri"/>
              <a:ea typeface="Calibri"/>
              <a:cs typeface="Calibri"/>
              <a:sym typeface="Calibri"/>
            </a:endParaRPr>
          </a:p>
        </p:txBody>
      </p:sp>
      <p:graphicFrame>
        <p:nvGraphicFramePr>
          <p:cNvPr id="55" name="Google Shape;55;p5"/>
          <p:cNvGraphicFramePr/>
          <p:nvPr/>
        </p:nvGraphicFramePr>
        <p:xfrm>
          <a:off x="548640" y="1554480"/>
          <a:ext cx="3000000" cy="3000000"/>
        </p:xfrm>
        <a:graphic>
          <a:graphicData uri="http://schemas.openxmlformats.org/drawingml/2006/table">
            <a:tbl>
              <a:tblPr>
                <a:noFill/>
                <a:tableStyleId>{AC74FFF0-D99E-4C8A-A0E9-C1141B4D78FB}</a:tableStyleId>
              </a:tblPr>
              <a:tblGrid>
                <a:gridCol w="914400"/>
                <a:gridCol w="4480550"/>
                <a:gridCol w="1371600"/>
                <a:gridCol w="731525"/>
              </a:tblGrid>
              <a:tr h="31090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Key</a:t>
                      </a:r>
                      <a:endParaRPr sz="13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154734"/>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Item</a:t>
                      </a:r>
                      <a:endParaRPr sz="13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154734"/>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Status</a:t>
                      </a:r>
                      <a:endParaRPr sz="13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154734"/>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Pts</a:t>
                      </a:r>
                      <a:endParaRPr sz="13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154734"/>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POL-1</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Set up Jira</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2E6B4F"/>
                        </a:buClr>
                        <a:buSzPts val="1200"/>
                        <a:buFont typeface="Calibri"/>
                        <a:buNone/>
                      </a:pPr>
                      <a:r>
                        <a:rPr lang="en-US" sz="1200" u="none" cap="none" strike="noStrike">
                          <a:solidFill>
                            <a:srgbClr val="2E6B4F"/>
                          </a:solidFill>
                          <a:latin typeface="Calibri"/>
                          <a:ea typeface="Calibri"/>
                          <a:cs typeface="Calibri"/>
                          <a:sym typeface="Calibri"/>
                        </a:rPr>
                        <a:t>Done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POL-3</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Meet with Zoe Wood</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6B4F"/>
                        </a:buClr>
                        <a:buSzPts val="1200"/>
                        <a:buFont typeface="Calibri"/>
                        <a:buNone/>
                      </a:pPr>
                      <a:r>
                        <a:rPr lang="en-US" sz="1200" u="none" cap="none" strike="noStrike">
                          <a:solidFill>
                            <a:srgbClr val="2E6B4F"/>
                          </a:solidFill>
                          <a:latin typeface="Calibri"/>
                          <a:ea typeface="Calibri"/>
                          <a:cs typeface="Calibri"/>
                          <a:sym typeface="Calibri"/>
                        </a:rPr>
                        <a:t>Done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1</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POL-4</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Set up GitHub</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2E6B4F"/>
                        </a:buClr>
                        <a:buSzPts val="1200"/>
                        <a:buFont typeface="Calibri"/>
                        <a:buNone/>
                      </a:pPr>
                      <a:r>
                        <a:rPr lang="en-US" sz="1200" u="none" cap="none" strike="noStrike">
                          <a:solidFill>
                            <a:srgbClr val="2E6B4F"/>
                          </a:solidFill>
                          <a:latin typeface="Calibri"/>
                          <a:ea typeface="Calibri"/>
                          <a:cs typeface="Calibri"/>
                          <a:sym typeface="Calibri"/>
                        </a:rPr>
                        <a:t>Done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POL-5</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Get a mini web scraper working</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6B4F"/>
                        </a:buClr>
                        <a:buSzPts val="1200"/>
                        <a:buFont typeface="Calibri"/>
                        <a:buNone/>
                      </a:pPr>
                      <a:r>
                        <a:rPr lang="en-US" sz="1200" u="none" cap="none" strike="noStrike">
                          <a:solidFill>
                            <a:srgbClr val="2E6B4F"/>
                          </a:solidFill>
                          <a:latin typeface="Calibri"/>
                          <a:ea typeface="Calibri"/>
                          <a:cs typeface="Calibri"/>
                          <a:sym typeface="Calibri"/>
                        </a:rPr>
                        <a:t>Done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2</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POL-7</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[Spike] Develop frontend in Svelte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2E6B4F"/>
                        </a:buClr>
                        <a:buSzPts val="1200"/>
                        <a:buFont typeface="Calibri"/>
                        <a:buNone/>
                      </a:pPr>
                      <a:r>
                        <a:rPr lang="en-US" sz="1200" u="none" cap="none" strike="noStrike">
                          <a:solidFill>
                            <a:srgbClr val="2E6B4F"/>
                          </a:solidFill>
                          <a:latin typeface="Calibri"/>
                          <a:ea typeface="Calibri"/>
                          <a:cs typeface="Calibri"/>
                          <a:sym typeface="Calibri"/>
                        </a:rPr>
                        <a:t>Done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4</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POL-8</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[Spike] Permanent deploy for frontend</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6B4F"/>
                        </a:buClr>
                        <a:buSzPts val="1200"/>
                        <a:buFont typeface="Calibri"/>
                        <a:buNone/>
                      </a:pPr>
                      <a:r>
                        <a:rPr lang="en-US" sz="1200" u="none" cap="none" strike="noStrike">
                          <a:solidFill>
                            <a:srgbClr val="2E6B4F"/>
                          </a:solidFill>
                          <a:latin typeface="Calibri"/>
                          <a:ea typeface="Calibri"/>
                          <a:cs typeface="Calibri"/>
                          <a:sym typeface="Calibri"/>
                        </a:rPr>
                        <a:t>Done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2</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POL-11</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Meet with Aaron Keen</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2E6B4F"/>
                        </a:buClr>
                        <a:buSzPts val="1200"/>
                        <a:buFont typeface="Calibri"/>
                        <a:buNone/>
                      </a:pPr>
                      <a:r>
                        <a:rPr lang="en-US" sz="1200" u="none" cap="none" strike="noStrike">
                          <a:solidFill>
                            <a:srgbClr val="2E6B4F"/>
                          </a:solidFill>
                          <a:latin typeface="Calibri"/>
                          <a:ea typeface="Calibri"/>
                          <a:cs typeface="Calibri"/>
                          <a:sym typeface="Calibri"/>
                        </a:rPr>
                        <a:t>Done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1</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POL-12</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Create survey forms for professors and students</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6B4F"/>
                        </a:buClr>
                        <a:buSzPts val="1200"/>
                        <a:buFont typeface="Calibri"/>
                        <a:buNone/>
                      </a:pPr>
                      <a:r>
                        <a:rPr lang="en-US" sz="1200" u="none" cap="none" strike="noStrike">
                          <a:solidFill>
                            <a:srgbClr val="2E6B4F"/>
                          </a:solidFill>
                          <a:latin typeface="Calibri"/>
                          <a:ea typeface="Calibri"/>
                          <a:cs typeface="Calibri"/>
                          <a:sym typeface="Calibri"/>
                        </a:rPr>
                        <a:t>Done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1</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POL-9</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Contact Donna Aiken and Lynne (CPE)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2E6B4F"/>
                        </a:buClr>
                        <a:buSzPts val="1200"/>
                        <a:buFont typeface="Calibri"/>
                        <a:buNone/>
                      </a:pPr>
                      <a:r>
                        <a:rPr lang="en-US" sz="1200" u="none" cap="none" strike="noStrike">
                          <a:solidFill>
                            <a:srgbClr val="2E6B4F"/>
                          </a:solidFill>
                          <a:latin typeface="Calibri"/>
                          <a:ea typeface="Calibri"/>
                          <a:cs typeface="Calibri"/>
                          <a:sym typeface="Calibri"/>
                        </a:rPr>
                        <a:t>Done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1</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POL-17</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Review survey forms with Clements</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6B4F"/>
                        </a:buClr>
                        <a:buSzPts val="1200"/>
                        <a:buFont typeface="Calibri"/>
                        <a:buNone/>
                      </a:pPr>
                      <a:r>
                        <a:rPr lang="en-US" sz="1200" u="none" cap="none" strike="noStrike">
                          <a:solidFill>
                            <a:srgbClr val="2E6B4F"/>
                          </a:solidFill>
                          <a:latin typeface="Calibri"/>
                          <a:ea typeface="Calibri"/>
                          <a:cs typeface="Calibri"/>
                          <a:sym typeface="Calibri"/>
                        </a:rPr>
                        <a:t>Done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1</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POL-13</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Research Microsoft Graph API</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2E6B4F"/>
                        </a:buClr>
                        <a:buSzPts val="1200"/>
                        <a:buFont typeface="Calibri"/>
                        <a:buNone/>
                      </a:pPr>
                      <a:r>
                        <a:rPr lang="en-US" sz="1200" u="none" cap="none" strike="noStrike">
                          <a:solidFill>
                            <a:srgbClr val="2E6B4F"/>
                          </a:solidFill>
                          <a:latin typeface="Calibri"/>
                          <a:ea typeface="Calibri"/>
                          <a:cs typeface="Calibri"/>
                          <a:sym typeface="Calibri"/>
                        </a:rPr>
                        <a:t>Done</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POL-15</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Ask Zoe Wood to share with other departments</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670A"/>
                        </a:buClr>
                        <a:buSzPts val="1200"/>
                        <a:buFont typeface="Calibri"/>
                        <a:buNone/>
                      </a:pPr>
                      <a:r>
                        <a:rPr b="1" lang="en-US" sz="1200" u="none" cap="none" strike="noStrike">
                          <a:solidFill>
                            <a:srgbClr val="A0670A"/>
                          </a:solidFill>
                          <a:latin typeface="Calibri"/>
                          <a:ea typeface="Calibri"/>
                          <a:cs typeface="Calibri"/>
                          <a:sym typeface="Calibri"/>
                        </a:rPr>
                        <a:t>In Progress</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1</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POL-14</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Send surveys to the CS department</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l">
                        <a:spcBef>
                          <a:spcPts val="0"/>
                        </a:spcBef>
                        <a:spcAft>
                          <a:spcPts val="0"/>
                        </a:spcAft>
                        <a:buClr>
                          <a:srgbClr val="A0670A"/>
                        </a:buClr>
                        <a:buSzPts val="1200"/>
                        <a:buFont typeface="Calibri"/>
                        <a:buNone/>
                      </a:pPr>
                      <a:r>
                        <a:rPr b="1" lang="en-US" sz="1200" u="none" cap="none" strike="noStrike">
                          <a:solidFill>
                            <a:srgbClr val="A0670A"/>
                          </a:solidFill>
                          <a:latin typeface="Calibri"/>
                          <a:ea typeface="Calibri"/>
                          <a:cs typeface="Calibri"/>
                          <a:sym typeface="Calibri"/>
                        </a:rPr>
                        <a:t>Review</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1</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4F8F5"/>
                    </a:solidFill>
                  </a:tcPr>
                </a:tc>
              </a:tr>
              <a:tr h="310900">
                <a:tc>
                  <a:txBody>
                    <a:bodyPr/>
                    <a:lstStyle/>
                    <a:p>
                      <a:pPr indent="0" lvl="0" marL="0" marR="0" rtl="0" algn="l">
                        <a:spcBef>
                          <a:spcPts val="0"/>
                        </a:spcBef>
                        <a:spcAft>
                          <a:spcPts val="0"/>
                        </a:spcAft>
                        <a:buClr>
                          <a:srgbClr val="154734"/>
                        </a:buClr>
                        <a:buSzPts val="1200"/>
                        <a:buFont typeface="Calibri"/>
                        <a:buNone/>
                      </a:pPr>
                      <a:r>
                        <a:rPr b="1" lang="en-US" sz="1200" u="none" cap="none" strike="noStrike">
                          <a:solidFill>
                            <a:srgbClr val="154734"/>
                          </a:solidFill>
                          <a:latin typeface="Calibri"/>
                          <a:ea typeface="Calibri"/>
                          <a:cs typeface="Calibri"/>
                          <a:sym typeface="Calibri"/>
                        </a:rPr>
                        <a:t>POL-19</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Sprint review slides</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670A"/>
                        </a:buClr>
                        <a:buSzPts val="1200"/>
                        <a:buFont typeface="Calibri"/>
                        <a:buNone/>
                      </a:pPr>
                      <a:r>
                        <a:rPr b="1" lang="en-US" sz="1200" u="none" cap="none" strike="noStrike">
                          <a:solidFill>
                            <a:srgbClr val="A0670A"/>
                          </a:solidFill>
                          <a:latin typeface="Calibri"/>
                          <a:ea typeface="Calibri"/>
                          <a:cs typeface="Calibri"/>
                          <a:sym typeface="Calibri"/>
                        </a:rPr>
                        <a:t>In Progress</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F2A24"/>
                        </a:buClr>
                        <a:buSzPts val="1200"/>
                        <a:buFont typeface="Calibri"/>
                        <a:buNone/>
                      </a:pPr>
                      <a:r>
                        <a:rPr lang="en-US" sz="1200" u="none" cap="none" strike="noStrike">
                          <a:solidFill>
                            <a:srgbClr val="1F2A24"/>
                          </a:solidFill>
                          <a:latin typeface="Calibri"/>
                          <a:ea typeface="Calibri"/>
                          <a:cs typeface="Calibri"/>
                          <a:sym typeface="Calibri"/>
                        </a:rPr>
                        <a:t>–</a:t>
                      </a:r>
                      <a:endParaRPr sz="1200" u="none" cap="none" strike="noStrike">
                        <a:latin typeface="Calibri"/>
                        <a:ea typeface="Calibri"/>
                        <a:cs typeface="Calibri"/>
                        <a:sym typeface="Calibri"/>
                      </a:endParaRPr>
                    </a:p>
                  </a:txBody>
                  <a:tcPr marT="45725" marB="45725" marR="91450" marL="91450">
                    <a:lnL cap="flat" cmpd="sng" w="9525">
                      <a:solidFill>
                        <a:srgbClr val="D5E0D8"/>
                      </a:solidFill>
                      <a:prstDash val="solid"/>
                      <a:round/>
                      <a:headEnd len="sm" w="sm" type="none"/>
                      <a:tailEnd len="sm" w="sm" type="none"/>
                    </a:lnL>
                    <a:lnR cap="flat" cmpd="sng" w="9525">
                      <a:solidFill>
                        <a:srgbClr val="D5E0D8"/>
                      </a:solidFill>
                      <a:prstDash val="solid"/>
                      <a:round/>
                      <a:headEnd len="sm" w="sm" type="none"/>
                      <a:tailEnd len="sm" w="sm" type="none"/>
                    </a:lnR>
                    <a:lnT cap="flat" cmpd="sng" w="9525">
                      <a:solidFill>
                        <a:srgbClr val="D5E0D8"/>
                      </a:solidFill>
                      <a:prstDash val="solid"/>
                      <a:round/>
                      <a:headEnd len="sm" w="sm" type="none"/>
                      <a:tailEnd len="sm" w="sm" type="none"/>
                    </a:lnT>
                    <a:lnB cap="flat" cmpd="sng" w="9525">
                      <a:solidFill>
                        <a:srgbClr val="D5E0D8"/>
                      </a:solidFill>
                      <a:prstDash val="solid"/>
                      <a:round/>
                      <a:headEnd len="sm" w="sm" type="none"/>
                      <a:tailEnd len="sm" w="sm" type="none"/>
                    </a:lnB>
                    <a:solidFill>
                      <a:srgbClr val="FFFFFF"/>
                    </a:solidFill>
                  </a:tcPr>
                </a:tc>
              </a:tr>
            </a:tbl>
          </a:graphicData>
        </a:graphic>
      </p:graphicFrame>
      <p:sp>
        <p:nvSpPr>
          <p:cNvPr id="56" name="Google Shape;56;p5"/>
          <p:cNvSpPr/>
          <p:nvPr/>
        </p:nvSpPr>
        <p:spPr>
          <a:xfrm>
            <a:off x="8412480" y="1554480"/>
            <a:ext cx="3200400" cy="2103120"/>
          </a:xfrm>
          <a:prstGeom prst="roundRect">
            <a:avLst>
              <a:gd fmla="val 5217" name="adj"/>
            </a:avLst>
          </a:prstGeom>
          <a:solidFill>
            <a:srgbClr val="EAF2EC"/>
          </a:solidFill>
          <a:ln cap="flat" cmpd="sng" w="12700">
            <a:solidFill>
              <a:srgbClr val="EAF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txBox="1"/>
          <p:nvPr/>
        </p:nvSpPr>
        <p:spPr>
          <a:xfrm>
            <a:off x="8412480" y="1691640"/>
            <a:ext cx="320040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4734"/>
              </a:buClr>
              <a:buSzPts val="5400"/>
              <a:buFont typeface="Cambria"/>
              <a:buNone/>
            </a:pPr>
            <a:r>
              <a:rPr b="1" i="0" lang="en-US" sz="5400" u="none" cap="none" strike="noStrike">
                <a:solidFill>
                  <a:srgbClr val="154734"/>
                </a:solidFill>
                <a:latin typeface="Cambria"/>
                <a:ea typeface="Cambria"/>
                <a:cs typeface="Cambria"/>
                <a:sym typeface="Cambria"/>
              </a:rPr>
              <a:t>11 / 14</a:t>
            </a:r>
            <a:endParaRPr b="0" i="0" sz="5400" u="none" cap="none" strike="noStrike">
              <a:solidFill>
                <a:schemeClr val="dk1"/>
              </a:solidFill>
              <a:latin typeface="Calibri"/>
              <a:ea typeface="Calibri"/>
              <a:cs typeface="Calibri"/>
              <a:sym typeface="Calibri"/>
            </a:endParaRPr>
          </a:p>
        </p:txBody>
      </p:sp>
      <p:sp>
        <p:nvSpPr>
          <p:cNvPr id="58" name="Google Shape;58;p5"/>
          <p:cNvSpPr txBox="1"/>
          <p:nvPr/>
        </p:nvSpPr>
        <p:spPr>
          <a:xfrm>
            <a:off x="8412480" y="2697480"/>
            <a:ext cx="3200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B63"/>
              </a:buClr>
              <a:buSzPts val="1600"/>
              <a:buFont typeface="Calibri"/>
              <a:buNone/>
            </a:pPr>
            <a:r>
              <a:rPr b="0" i="0" lang="en-US" sz="1600" u="none" cap="none" strike="noStrike">
                <a:solidFill>
                  <a:srgbClr val="5E6B63"/>
                </a:solidFill>
                <a:latin typeface="Calibri"/>
                <a:ea typeface="Calibri"/>
                <a:cs typeface="Calibri"/>
                <a:sym typeface="Calibri"/>
              </a:rPr>
              <a:t>items done</a:t>
            </a:r>
            <a:endParaRPr b="0" i="0" sz="1600" u="none" cap="none" strike="noStrike">
              <a:solidFill>
                <a:schemeClr val="dk1"/>
              </a:solidFill>
              <a:latin typeface="Calibri"/>
              <a:ea typeface="Calibri"/>
              <a:cs typeface="Calibri"/>
              <a:sym typeface="Calibri"/>
            </a:endParaRPr>
          </a:p>
        </p:txBody>
      </p:sp>
      <p:sp>
        <p:nvSpPr>
          <p:cNvPr id="59" name="Google Shape;59;p5"/>
          <p:cNvSpPr/>
          <p:nvPr/>
        </p:nvSpPr>
        <p:spPr>
          <a:xfrm>
            <a:off x="8412480" y="3931920"/>
            <a:ext cx="3200400" cy="2103120"/>
          </a:xfrm>
          <a:prstGeom prst="roundRect">
            <a:avLst>
              <a:gd fmla="val 5217" name="adj"/>
            </a:avLst>
          </a:prstGeom>
          <a:solidFill>
            <a:srgbClr val="FBF1DC"/>
          </a:solidFill>
          <a:ln cap="flat" cmpd="sng" w="12700">
            <a:solidFill>
              <a:srgbClr val="FBF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nvSpPr>
        <p:spPr>
          <a:xfrm>
            <a:off x="8412480" y="4069080"/>
            <a:ext cx="320040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D8B13"/>
              </a:buClr>
              <a:buSzPts val="5400"/>
              <a:buFont typeface="Cambria"/>
              <a:buNone/>
            </a:pPr>
            <a:r>
              <a:rPr b="1" i="0" lang="en-US" sz="5400" u="none" cap="none" strike="noStrike">
                <a:solidFill>
                  <a:srgbClr val="BD8B13"/>
                </a:solidFill>
                <a:latin typeface="Cambria"/>
                <a:ea typeface="Cambria"/>
                <a:cs typeface="Cambria"/>
                <a:sym typeface="Cambria"/>
              </a:rPr>
              <a:t>3</a:t>
            </a:r>
            <a:endParaRPr b="0" i="0" sz="5400" u="none" cap="none" strike="noStrike">
              <a:solidFill>
                <a:schemeClr val="dk1"/>
              </a:solidFill>
              <a:latin typeface="Calibri"/>
              <a:ea typeface="Calibri"/>
              <a:cs typeface="Calibri"/>
              <a:sym typeface="Calibri"/>
            </a:endParaRPr>
          </a:p>
        </p:txBody>
      </p:sp>
      <p:sp>
        <p:nvSpPr>
          <p:cNvPr id="61" name="Google Shape;61;p5"/>
          <p:cNvSpPr txBox="1"/>
          <p:nvPr/>
        </p:nvSpPr>
        <p:spPr>
          <a:xfrm>
            <a:off x="8412480" y="5074920"/>
            <a:ext cx="32004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B63"/>
              </a:buClr>
              <a:buSzPts val="1400"/>
              <a:buFont typeface="Calibri"/>
              <a:buNone/>
            </a:pPr>
            <a:r>
              <a:rPr b="0" i="0" lang="en-US" sz="1400" u="none" cap="none" strike="noStrike">
                <a:solidFill>
                  <a:srgbClr val="5E6B63"/>
                </a:solidFill>
                <a:latin typeface="Calibri"/>
                <a:ea typeface="Calibri"/>
                <a:cs typeface="Calibri"/>
                <a:sym typeface="Calibri"/>
              </a:rPr>
              <a:t>carry over to Sprint 2</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E6B63"/>
              </a:buClr>
              <a:buSzPts val="1400"/>
              <a:buFont typeface="Calibri"/>
              <a:buNone/>
            </a:pPr>
            <a:r>
              <a:rPr b="0" i="0" lang="en-US" sz="1400" u="none" cap="none" strike="noStrike">
                <a:solidFill>
                  <a:srgbClr val="5E6B63"/>
                </a:solidFill>
                <a:latin typeface="Calibri"/>
                <a:ea typeface="Calibri"/>
                <a:cs typeface="Calibri"/>
                <a:sym typeface="Calibri"/>
              </a:rPr>
              <a:t>(POL-14, 15, 19)</a:t>
            </a:r>
            <a:endParaRPr b="0" i="0" sz="1400" u="none" cap="none" strike="noStrike">
              <a:solidFill>
                <a:schemeClr val="dk1"/>
              </a:solidFill>
              <a:latin typeface="Calibri"/>
              <a:ea typeface="Calibri"/>
              <a:cs typeface="Calibri"/>
              <a:sym typeface="Calibri"/>
            </a:endParaRPr>
          </a:p>
        </p:txBody>
      </p:sp>
      <p:pic>
        <p:nvPicPr>
          <p:cNvPr id="62" name="Google Shape;62;p5"/>
          <p:cNvPicPr preferRelativeResize="0"/>
          <p:nvPr/>
        </p:nvPicPr>
        <p:blipFill>
          <a:blip r:embed="rId3">
            <a:alphaModFix/>
          </a:blip>
          <a:stretch>
            <a:fillRect/>
          </a:stretch>
        </p:blipFill>
        <p:spPr>
          <a:xfrm>
            <a:off x="9135864" y="87775"/>
            <a:ext cx="2128087" cy="1192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6"/>
          <p:cNvSpPr txBox="1"/>
          <p:nvPr/>
        </p:nvSpPr>
        <p:spPr>
          <a:xfrm>
            <a:off x="548640" y="36576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3600"/>
              <a:buFont typeface="Cambria"/>
              <a:buNone/>
            </a:pPr>
            <a:r>
              <a:rPr b="1" i="0" lang="en-US" sz="3600" u="none" cap="none" strike="noStrike">
                <a:solidFill>
                  <a:srgbClr val="154734"/>
                </a:solidFill>
                <a:latin typeface="Cambria"/>
                <a:ea typeface="Cambria"/>
                <a:cs typeface="Cambria"/>
                <a:sym typeface="Cambria"/>
              </a:rPr>
              <a:t>Sprint 1 Burndown</a:t>
            </a:r>
            <a:endParaRPr b="0" i="0" sz="3600" u="none" cap="none" strike="noStrike">
              <a:solidFill>
                <a:schemeClr val="dk1"/>
              </a:solidFill>
              <a:latin typeface="Calibri"/>
              <a:ea typeface="Calibri"/>
              <a:cs typeface="Calibri"/>
              <a:sym typeface="Calibri"/>
            </a:endParaRPr>
          </a:p>
        </p:txBody>
      </p:sp>
      <p:sp>
        <p:nvSpPr>
          <p:cNvPr id="69" name="Google Shape;69;p6"/>
          <p:cNvSpPr txBox="1"/>
          <p:nvPr/>
        </p:nvSpPr>
        <p:spPr>
          <a:xfrm>
            <a:off x="548640" y="105156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400"/>
              <a:buFont typeface="Calibri"/>
              <a:buNone/>
            </a:pPr>
            <a:r>
              <a:rPr b="0" i="1" lang="en-US" sz="1400" u="none" cap="none" strike="noStrike">
                <a:solidFill>
                  <a:srgbClr val="5E6B63"/>
                </a:solidFill>
                <a:latin typeface="Calibri"/>
                <a:ea typeface="Calibri"/>
                <a:cs typeface="Calibri"/>
                <a:sym typeface="Calibri"/>
              </a:rPr>
              <a:t>Story points remaining, Sep 9 – Sep 23</a:t>
            </a:r>
            <a:endParaRPr b="0" i="0" sz="1400" u="none" cap="none" strike="noStrike">
              <a:solidFill>
                <a:schemeClr val="dk1"/>
              </a:solidFill>
              <a:latin typeface="Calibri"/>
              <a:ea typeface="Calibri"/>
              <a:cs typeface="Calibri"/>
              <a:sym typeface="Calibri"/>
            </a:endParaRPr>
          </a:p>
        </p:txBody>
      </p:sp>
      <p:pic>
        <p:nvPicPr>
          <p:cNvPr id="70" name="Google Shape;70;p6"/>
          <p:cNvPicPr preferRelativeResize="0"/>
          <p:nvPr/>
        </p:nvPicPr>
        <p:blipFill rotWithShape="1">
          <a:blip r:embed="rId3">
            <a:alphaModFix/>
          </a:blip>
          <a:srcRect b="0" l="0" r="0" t="0"/>
          <a:stretch/>
        </p:blipFill>
        <p:spPr>
          <a:xfrm>
            <a:off x="548640" y="1554480"/>
            <a:ext cx="7680960" cy="4663440"/>
          </a:xfrm>
          <a:prstGeom prst="rect">
            <a:avLst/>
          </a:prstGeom>
          <a:noFill/>
          <a:ln>
            <a:noFill/>
          </a:ln>
        </p:spPr>
      </p:pic>
      <p:sp>
        <p:nvSpPr>
          <p:cNvPr id="71" name="Google Shape;71;p6"/>
          <p:cNvSpPr/>
          <p:nvPr/>
        </p:nvSpPr>
        <p:spPr>
          <a:xfrm>
            <a:off x="8595360" y="1645920"/>
            <a:ext cx="3017520" cy="1325880"/>
          </a:xfrm>
          <a:prstGeom prst="roundRect">
            <a:avLst>
              <a:gd fmla="val 8276" name="adj"/>
            </a:avLst>
          </a:prstGeom>
          <a:solidFill>
            <a:srgbClr val="EAF2EC"/>
          </a:solidFill>
          <a:ln cap="flat" cmpd="sng" w="12700">
            <a:solidFill>
              <a:srgbClr val="EAF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txBox="1"/>
          <p:nvPr/>
        </p:nvSpPr>
        <p:spPr>
          <a:xfrm>
            <a:off x="8778240" y="1755648"/>
            <a:ext cx="26517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3400"/>
              <a:buFont typeface="Cambria"/>
              <a:buNone/>
            </a:pPr>
            <a:r>
              <a:rPr b="1" i="0" lang="en-US" sz="3400" u="none" cap="none" strike="noStrike">
                <a:solidFill>
                  <a:srgbClr val="154734"/>
                </a:solidFill>
                <a:latin typeface="Cambria"/>
                <a:ea typeface="Cambria"/>
                <a:cs typeface="Cambria"/>
                <a:sym typeface="Cambria"/>
              </a:rPr>
              <a:t>13 / 15</a:t>
            </a:r>
            <a:endParaRPr b="0" i="0" sz="3400" u="none" cap="none" strike="noStrike">
              <a:solidFill>
                <a:schemeClr val="dk1"/>
              </a:solidFill>
              <a:latin typeface="Calibri"/>
              <a:ea typeface="Calibri"/>
              <a:cs typeface="Calibri"/>
              <a:sym typeface="Calibri"/>
            </a:endParaRPr>
          </a:p>
        </p:txBody>
      </p:sp>
      <p:sp>
        <p:nvSpPr>
          <p:cNvPr id="73" name="Google Shape;73;p6"/>
          <p:cNvSpPr txBox="1"/>
          <p:nvPr/>
        </p:nvSpPr>
        <p:spPr>
          <a:xfrm>
            <a:off x="8778240" y="242316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300"/>
              <a:buFont typeface="Calibri"/>
              <a:buNone/>
            </a:pPr>
            <a:r>
              <a:rPr b="0" i="0" lang="en-US" sz="1300" u="none" cap="none" strike="noStrike">
                <a:solidFill>
                  <a:srgbClr val="5E6B63"/>
                </a:solidFill>
                <a:latin typeface="Calibri"/>
                <a:ea typeface="Calibri"/>
                <a:cs typeface="Calibri"/>
                <a:sym typeface="Calibri"/>
              </a:rPr>
              <a:t>points completed</a:t>
            </a:r>
            <a:endParaRPr b="0" i="0" sz="1300" u="none" cap="none" strike="noStrike">
              <a:solidFill>
                <a:schemeClr val="dk1"/>
              </a:solidFill>
              <a:latin typeface="Calibri"/>
              <a:ea typeface="Calibri"/>
              <a:cs typeface="Calibri"/>
              <a:sym typeface="Calibri"/>
            </a:endParaRPr>
          </a:p>
        </p:txBody>
      </p:sp>
      <p:sp>
        <p:nvSpPr>
          <p:cNvPr id="74" name="Google Shape;74;p6"/>
          <p:cNvSpPr/>
          <p:nvPr/>
        </p:nvSpPr>
        <p:spPr>
          <a:xfrm>
            <a:off x="8595360" y="3200400"/>
            <a:ext cx="3017520" cy="1325880"/>
          </a:xfrm>
          <a:prstGeom prst="roundRect">
            <a:avLst>
              <a:gd fmla="val 8276" name="adj"/>
            </a:avLst>
          </a:prstGeom>
          <a:solidFill>
            <a:srgbClr val="EAF2EC"/>
          </a:solidFill>
          <a:ln cap="flat" cmpd="sng" w="12700">
            <a:solidFill>
              <a:srgbClr val="EAF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txBox="1"/>
          <p:nvPr/>
        </p:nvSpPr>
        <p:spPr>
          <a:xfrm>
            <a:off x="8778240" y="3310128"/>
            <a:ext cx="26517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3400"/>
              <a:buFont typeface="Cambria"/>
              <a:buNone/>
            </a:pPr>
            <a:r>
              <a:rPr b="1" i="0" lang="en-US" sz="3400" u="none" cap="none" strike="noStrike">
                <a:solidFill>
                  <a:srgbClr val="154734"/>
                </a:solidFill>
                <a:latin typeface="Cambria"/>
                <a:ea typeface="Cambria"/>
                <a:cs typeface="Cambria"/>
                <a:sym typeface="Cambria"/>
              </a:rPr>
              <a:t>2</a:t>
            </a:r>
            <a:endParaRPr b="0" i="0" sz="3400" u="none" cap="none" strike="noStrike">
              <a:solidFill>
                <a:schemeClr val="dk1"/>
              </a:solidFill>
              <a:latin typeface="Calibri"/>
              <a:ea typeface="Calibri"/>
              <a:cs typeface="Calibri"/>
              <a:sym typeface="Calibri"/>
            </a:endParaRPr>
          </a:p>
        </p:txBody>
      </p:sp>
      <p:sp>
        <p:nvSpPr>
          <p:cNvPr id="76" name="Google Shape;76;p6"/>
          <p:cNvSpPr txBox="1"/>
          <p:nvPr/>
        </p:nvSpPr>
        <p:spPr>
          <a:xfrm>
            <a:off x="8778240" y="397764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300"/>
              <a:buFont typeface="Calibri"/>
              <a:buNone/>
            </a:pPr>
            <a:r>
              <a:rPr b="0" i="0" lang="en-US" sz="1300" u="none" cap="none" strike="noStrike">
                <a:solidFill>
                  <a:srgbClr val="5E6B63"/>
                </a:solidFill>
                <a:latin typeface="Calibri"/>
                <a:ea typeface="Calibri"/>
                <a:cs typeface="Calibri"/>
                <a:sym typeface="Calibri"/>
              </a:rPr>
              <a:t>points left (plus unpointed POL-19)</a:t>
            </a:r>
            <a:endParaRPr b="0" i="0" sz="1300" u="none" cap="none" strike="noStrike">
              <a:solidFill>
                <a:schemeClr val="dk1"/>
              </a:solidFill>
              <a:latin typeface="Calibri"/>
              <a:ea typeface="Calibri"/>
              <a:cs typeface="Calibri"/>
              <a:sym typeface="Calibri"/>
            </a:endParaRPr>
          </a:p>
        </p:txBody>
      </p:sp>
      <p:sp>
        <p:nvSpPr>
          <p:cNvPr id="77" name="Google Shape;77;p6"/>
          <p:cNvSpPr/>
          <p:nvPr/>
        </p:nvSpPr>
        <p:spPr>
          <a:xfrm>
            <a:off x="8595360" y="4754880"/>
            <a:ext cx="3017520" cy="1325880"/>
          </a:xfrm>
          <a:prstGeom prst="roundRect">
            <a:avLst>
              <a:gd fmla="val 8276" name="adj"/>
            </a:avLst>
          </a:prstGeom>
          <a:solidFill>
            <a:srgbClr val="FBF1DC"/>
          </a:solidFill>
          <a:ln cap="flat" cmpd="sng" w="12700">
            <a:solidFill>
              <a:srgbClr val="FBF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txBox="1"/>
          <p:nvPr/>
        </p:nvSpPr>
        <p:spPr>
          <a:xfrm>
            <a:off x="8778240" y="4864608"/>
            <a:ext cx="26517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8B13"/>
              </a:buClr>
              <a:buSzPts val="1800"/>
              <a:buFont typeface="Cambria"/>
              <a:buNone/>
            </a:pPr>
            <a:r>
              <a:rPr b="1" i="0" lang="en-US" sz="1800" u="none" cap="none" strike="noStrike">
                <a:solidFill>
                  <a:srgbClr val="BD8B13"/>
                </a:solidFill>
                <a:latin typeface="Cambria"/>
                <a:ea typeface="Cambria"/>
                <a:cs typeface="Cambria"/>
                <a:sym typeface="Cambria"/>
              </a:rPr>
              <a:t>Flat 9/11–9/14 and 9/17–9/20</a:t>
            </a:r>
            <a:endParaRPr b="0" i="0" sz="1800" u="none" cap="none" strike="noStrike">
              <a:solidFill>
                <a:schemeClr val="dk1"/>
              </a:solidFill>
              <a:latin typeface="Calibri"/>
              <a:ea typeface="Calibri"/>
              <a:cs typeface="Calibri"/>
              <a:sym typeface="Calibri"/>
            </a:endParaRPr>
          </a:p>
        </p:txBody>
      </p:sp>
      <p:sp>
        <p:nvSpPr>
          <p:cNvPr id="79" name="Google Shape;79;p6"/>
          <p:cNvSpPr txBox="1"/>
          <p:nvPr/>
        </p:nvSpPr>
        <p:spPr>
          <a:xfrm>
            <a:off x="8778240" y="553212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300"/>
              <a:buFont typeface="Calibri"/>
              <a:buNone/>
            </a:pPr>
            <a:r>
              <a:rPr lang="en-US" sz="1300">
                <a:solidFill>
                  <a:srgbClr val="5E6B63"/>
                </a:solidFill>
                <a:latin typeface="Calibri"/>
                <a:ea typeface="Calibri"/>
                <a:cs typeface="Calibri"/>
                <a:sym typeface="Calibri"/>
              </a:rPr>
              <a:t>Work was conducted, but late. Communication halted over weekend </a:t>
            </a:r>
            <a:r>
              <a:rPr lang="en-US" sz="1300">
                <a:solidFill>
                  <a:srgbClr val="5E6B63"/>
                </a:solidFill>
                <a:latin typeface="Calibri"/>
                <a:ea typeface="Calibri"/>
                <a:cs typeface="Calibri"/>
                <a:sym typeface="Calibri"/>
              </a:rPr>
              <a:t>periods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7"/>
          <p:cNvSpPr txBox="1"/>
          <p:nvPr/>
        </p:nvSpPr>
        <p:spPr>
          <a:xfrm>
            <a:off x="548640" y="36576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3600"/>
              <a:buFont typeface="Cambria"/>
              <a:buNone/>
            </a:pPr>
            <a:r>
              <a:rPr b="1" i="0" lang="en-US" sz="3600" u="none" cap="none" strike="noStrike">
                <a:solidFill>
                  <a:srgbClr val="154734"/>
                </a:solidFill>
                <a:latin typeface="Cambria"/>
                <a:ea typeface="Cambria"/>
                <a:cs typeface="Cambria"/>
                <a:sym typeface="Cambria"/>
              </a:rPr>
              <a:t>Sprint Strengths &amp; Weaknesses</a:t>
            </a:r>
            <a:endParaRPr b="0" i="0" sz="3600" u="none" cap="none" strike="noStrike">
              <a:solidFill>
                <a:schemeClr val="dk1"/>
              </a:solidFill>
              <a:latin typeface="Calibri"/>
              <a:ea typeface="Calibri"/>
              <a:cs typeface="Calibri"/>
              <a:sym typeface="Calibri"/>
            </a:endParaRPr>
          </a:p>
        </p:txBody>
      </p:sp>
      <p:sp>
        <p:nvSpPr>
          <p:cNvPr id="86" name="Google Shape;86;p7"/>
          <p:cNvSpPr/>
          <p:nvPr/>
        </p:nvSpPr>
        <p:spPr>
          <a:xfrm>
            <a:off x="548640" y="1417320"/>
            <a:ext cx="5440680" cy="4937760"/>
          </a:xfrm>
          <a:prstGeom prst="roundRect">
            <a:avLst>
              <a:gd fmla="val 2222" name="adj"/>
            </a:avLst>
          </a:prstGeom>
          <a:solidFill>
            <a:srgbClr val="EAF2EC"/>
          </a:solidFill>
          <a:ln cap="flat" cmpd="sng" w="12700">
            <a:solidFill>
              <a:srgbClr val="EAF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p:nvPr/>
        </p:nvSpPr>
        <p:spPr>
          <a:xfrm>
            <a:off x="868680" y="1645920"/>
            <a:ext cx="457200" cy="457200"/>
          </a:xfrm>
          <a:prstGeom prst="ellipse">
            <a:avLst/>
          </a:prstGeom>
          <a:solidFill>
            <a:srgbClr val="154734"/>
          </a:solidFill>
          <a:ln cap="flat" cmpd="sng" w="12700">
            <a:solidFill>
              <a:srgbClr val="1547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txBox="1"/>
          <p:nvPr/>
        </p:nvSpPr>
        <p:spPr>
          <a:xfrm>
            <a:off x="868680" y="1645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89" name="Google Shape;89;p7"/>
          <p:cNvSpPr txBox="1"/>
          <p:nvPr/>
        </p:nvSpPr>
        <p:spPr>
          <a:xfrm>
            <a:off x="1463040" y="1645920"/>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2400"/>
              <a:buFont typeface="Cambria"/>
              <a:buNone/>
            </a:pPr>
            <a:r>
              <a:rPr b="1" i="0" lang="en-US" sz="2400" u="none" cap="none" strike="noStrike">
                <a:solidFill>
                  <a:srgbClr val="154734"/>
                </a:solidFill>
                <a:latin typeface="Cambria"/>
                <a:ea typeface="Cambria"/>
                <a:cs typeface="Cambria"/>
                <a:sym typeface="Cambria"/>
              </a:rPr>
              <a:t>Strengths</a:t>
            </a:r>
            <a:endParaRPr b="0" i="0" sz="2400" u="none" cap="none" strike="noStrike">
              <a:solidFill>
                <a:schemeClr val="dk1"/>
              </a:solidFill>
              <a:latin typeface="Calibri"/>
              <a:ea typeface="Calibri"/>
              <a:cs typeface="Calibri"/>
              <a:sym typeface="Calibri"/>
            </a:endParaRPr>
          </a:p>
        </p:txBody>
      </p:sp>
      <p:sp>
        <p:nvSpPr>
          <p:cNvPr id="90" name="Google Shape;90;p7"/>
          <p:cNvSpPr txBox="1"/>
          <p:nvPr/>
        </p:nvSpPr>
        <p:spPr>
          <a:xfrm>
            <a:off x="868680" y="2331720"/>
            <a:ext cx="4846320" cy="38404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Talked to stakeholders early: Zoe Wood, Aaron Keen, and the CPE office, with Clements added to Slack</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Working scraper for CSSE and English, with a normalized CSV</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sng" cap="none" strike="noStrike">
                <a:solidFill>
                  <a:schemeClr val="hlink"/>
                </a:solidFill>
                <a:latin typeface="Calibri"/>
                <a:ea typeface="Calibri"/>
                <a:cs typeface="Calibri"/>
                <a:sym typeface="Calibri"/>
                <a:hlinkClick r:id="rId3"/>
              </a:rPr>
              <a:t>Svelte prototype live on GitHub Pages with CI/CD</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Student and faculty surveys built, reviewed, and approved</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Found the real problem: every department formats hours differently</a:t>
            </a:r>
            <a:endParaRPr b="0" i="0" sz="1700" u="none" cap="none" strike="noStrike">
              <a:solidFill>
                <a:schemeClr val="dk1"/>
              </a:solidFill>
              <a:latin typeface="Calibri"/>
              <a:ea typeface="Calibri"/>
              <a:cs typeface="Calibri"/>
              <a:sym typeface="Calibri"/>
            </a:endParaRPr>
          </a:p>
        </p:txBody>
      </p:sp>
      <p:sp>
        <p:nvSpPr>
          <p:cNvPr id="91" name="Google Shape;91;p7"/>
          <p:cNvSpPr/>
          <p:nvPr/>
        </p:nvSpPr>
        <p:spPr>
          <a:xfrm>
            <a:off x="6172200" y="1417320"/>
            <a:ext cx="5440680" cy="4937760"/>
          </a:xfrm>
          <a:prstGeom prst="roundRect">
            <a:avLst>
              <a:gd fmla="val 2222" name="adj"/>
            </a:avLst>
          </a:prstGeom>
          <a:solidFill>
            <a:srgbClr val="FBF1DC"/>
          </a:solidFill>
          <a:ln cap="flat" cmpd="sng" w="12700">
            <a:solidFill>
              <a:srgbClr val="FBF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6492240" y="1645920"/>
            <a:ext cx="457200" cy="457200"/>
          </a:xfrm>
          <a:prstGeom prst="ellipse">
            <a:avLst/>
          </a:prstGeom>
          <a:solidFill>
            <a:srgbClr val="A0670A"/>
          </a:solidFill>
          <a:ln cap="flat" cmpd="sng" w="12700">
            <a:solidFill>
              <a:srgbClr val="A067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txBox="1"/>
          <p:nvPr/>
        </p:nvSpPr>
        <p:spPr>
          <a:xfrm>
            <a:off x="6492240" y="1645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94" name="Google Shape;94;p7"/>
          <p:cNvSpPr txBox="1"/>
          <p:nvPr/>
        </p:nvSpPr>
        <p:spPr>
          <a:xfrm>
            <a:off x="7086600" y="1645920"/>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670A"/>
              </a:buClr>
              <a:buSzPts val="2400"/>
              <a:buFont typeface="Cambria"/>
              <a:buNone/>
            </a:pPr>
            <a:r>
              <a:rPr b="1" i="0" lang="en-US" sz="2400" u="none" cap="none" strike="noStrike">
                <a:solidFill>
                  <a:srgbClr val="A0670A"/>
                </a:solidFill>
                <a:latin typeface="Cambria"/>
                <a:ea typeface="Cambria"/>
                <a:cs typeface="Cambria"/>
                <a:sym typeface="Cambria"/>
              </a:rPr>
              <a:t>Weaknesses</a:t>
            </a:r>
            <a:endParaRPr b="0" i="0" sz="2400" u="none" cap="none" strike="noStrike">
              <a:solidFill>
                <a:schemeClr val="dk1"/>
              </a:solidFill>
              <a:latin typeface="Calibri"/>
              <a:ea typeface="Calibri"/>
              <a:cs typeface="Calibri"/>
              <a:sym typeface="Calibri"/>
            </a:endParaRPr>
          </a:p>
        </p:txBody>
      </p:sp>
      <p:sp>
        <p:nvSpPr>
          <p:cNvPr id="95" name="Google Shape;95;p7"/>
          <p:cNvSpPr txBox="1"/>
          <p:nvPr/>
        </p:nvSpPr>
        <p:spPr>
          <a:xfrm>
            <a:off x="6492240" y="2331720"/>
            <a:ext cx="4846320" cy="38404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Jira updated after the fact (a</a:t>
            </a:r>
            <a:r>
              <a:rPr lang="en-US" sz="1700">
                <a:solidFill>
                  <a:srgbClr val="1F2A24"/>
                </a:solidFill>
                <a:latin typeface="Calibri"/>
                <a:ea typeface="Calibri"/>
                <a:cs typeface="Calibri"/>
                <a:sym typeface="Calibri"/>
              </a:rPr>
              <a:t>s items are not backlogged at start of project)</a:t>
            </a:r>
            <a:r>
              <a:rPr b="0" i="0" lang="en-US" sz="1700" u="none" cap="none" strike="noStrike">
                <a:solidFill>
                  <a:srgbClr val="1F2A24"/>
                </a:solidFill>
                <a:latin typeface="Calibri"/>
                <a:ea typeface="Calibri"/>
                <a:cs typeface="Calibri"/>
                <a:sym typeface="Calibri"/>
              </a:rPr>
              <a:t>, so the board lagged behind real work</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Some tickets never estimated (POL-13, POL-19)</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POL-8 deploy slipped past its Sep 16 due date</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Built frontend before survey results told us what users want</a:t>
            </a:r>
            <a:endParaRPr b="0" i="0" sz="1700" u="none" cap="none" strike="noStrike">
              <a:solidFill>
                <a:srgbClr val="1F2A24"/>
              </a:solidFill>
              <a:latin typeface="Calibri"/>
              <a:ea typeface="Calibri"/>
              <a:cs typeface="Calibri"/>
              <a:sym typeface="Calibri"/>
            </a:endParaRPr>
          </a:p>
          <a:p>
            <a:pPr indent="0" lvl="0" marL="0" marR="0" rtl="0" algn="l">
              <a:spcBef>
                <a:spcPts val="1400"/>
              </a:spcBef>
              <a:spcAft>
                <a:spcPts val="0"/>
              </a:spcAft>
              <a:buNone/>
            </a:pPr>
            <a:r>
              <a:t/>
            </a:r>
            <a:endParaRPr sz="1700">
              <a:solidFill>
                <a:srgbClr val="1F2A24"/>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8"/>
          <p:cNvSpPr txBox="1"/>
          <p:nvPr/>
        </p:nvSpPr>
        <p:spPr>
          <a:xfrm>
            <a:off x="548640" y="36576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3600"/>
              <a:buFont typeface="Cambria"/>
              <a:buNone/>
            </a:pPr>
            <a:r>
              <a:rPr b="1" i="0" lang="en-US" sz="3600" u="none" cap="none" strike="noStrike">
                <a:solidFill>
                  <a:srgbClr val="154734"/>
                </a:solidFill>
                <a:latin typeface="Cambria"/>
                <a:ea typeface="Cambria"/>
                <a:cs typeface="Cambria"/>
                <a:sym typeface="Cambria"/>
              </a:rPr>
              <a:t>Retrospective</a:t>
            </a:r>
            <a:endParaRPr b="0" i="0" sz="3600" u="none" cap="none" strike="noStrike">
              <a:solidFill>
                <a:schemeClr val="dk1"/>
              </a:solidFill>
              <a:latin typeface="Calibri"/>
              <a:ea typeface="Calibri"/>
              <a:cs typeface="Calibri"/>
              <a:sym typeface="Calibri"/>
            </a:endParaRPr>
          </a:p>
        </p:txBody>
      </p:sp>
      <p:sp>
        <p:nvSpPr>
          <p:cNvPr id="102" name="Google Shape;102;p8"/>
          <p:cNvSpPr/>
          <p:nvPr/>
        </p:nvSpPr>
        <p:spPr>
          <a:xfrm>
            <a:off x="548640" y="1371600"/>
            <a:ext cx="3566160" cy="4023360"/>
          </a:xfrm>
          <a:prstGeom prst="roundRect">
            <a:avLst>
              <a:gd fmla="val 3077" name="adj"/>
            </a:avLst>
          </a:prstGeom>
          <a:solidFill>
            <a:srgbClr val="EAF2EC"/>
          </a:solidFill>
          <a:ln cap="flat" cmpd="sng" w="12700">
            <a:solidFill>
              <a:srgbClr val="EAF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txBox="1"/>
          <p:nvPr/>
        </p:nvSpPr>
        <p:spPr>
          <a:xfrm>
            <a:off x="822960" y="1554480"/>
            <a:ext cx="3017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2400"/>
              <a:buFont typeface="Cambria"/>
              <a:buNone/>
            </a:pPr>
            <a:r>
              <a:rPr b="1" i="0" lang="en-US" sz="2400" u="none" cap="none" strike="noStrike">
                <a:solidFill>
                  <a:srgbClr val="154734"/>
                </a:solidFill>
                <a:latin typeface="Cambria"/>
                <a:ea typeface="Cambria"/>
                <a:cs typeface="Cambria"/>
                <a:sym typeface="Cambria"/>
              </a:rPr>
              <a:t>Keep doing</a:t>
            </a:r>
            <a:endParaRPr b="0" i="0" sz="2400" u="none" cap="none" strike="noStrike">
              <a:solidFill>
                <a:schemeClr val="dk1"/>
              </a:solidFill>
              <a:latin typeface="Calibri"/>
              <a:ea typeface="Calibri"/>
              <a:cs typeface="Calibri"/>
              <a:sym typeface="Calibri"/>
            </a:endParaRPr>
          </a:p>
        </p:txBody>
      </p:sp>
      <p:sp>
        <p:nvSpPr>
          <p:cNvPr id="104" name="Google Shape;104;p8"/>
          <p:cNvSpPr txBox="1"/>
          <p:nvPr/>
        </p:nvSpPr>
        <p:spPr>
          <a:xfrm>
            <a:off x="822960" y="2240280"/>
            <a:ext cx="3017520" cy="29260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Meeting stakeholders early and often</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Reviewing each other’s drafts in Slack before sending</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Short spikes to prove ideas fast</a:t>
            </a:r>
            <a:endParaRPr b="0" i="0" sz="1700" u="none" cap="none" strike="noStrike">
              <a:solidFill>
                <a:schemeClr val="dk1"/>
              </a:solidFill>
              <a:latin typeface="Calibri"/>
              <a:ea typeface="Calibri"/>
              <a:cs typeface="Calibri"/>
              <a:sym typeface="Calibri"/>
            </a:endParaRPr>
          </a:p>
        </p:txBody>
      </p:sp>
      <p:sp>
        <p:nvSpPr>
          <p:cNvPr id="105" name="Google Shape;105;p8"/>
          <p:cNvSpPr/>
          <p:nvPr/>
        </p:nvSpPr>
        <p:spPr>
          <a:xfrm>
            <a:off x="4297680" y="1371600"/>
            <a:ext cx="3566160" cy="4023360"/>
          </a:xfrm>
          <a:prstGeom prst="roundRect">
            <a:avLst>
              <a:gd fmla="val 3077" name="adj"/>
            </a:avLst>
          </a:prstGeom>
          <a:solidFill>
            <a:srgbClr val="FBF1DC"/>
          </a:solidFill>
          <a:ln cap="flat" cmpd="sng" w="12700">
            <a:solidFill>
              <a:srgbClr val="FBF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txBox="1"/>
          <p:nvPr/>
        </p:nvSpPr>
        <p:spPr>
          <a:xfrm>
            <a:off x="4572000" y="1554480"/>
            <a:ext cx="3017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670A"/>
              </a:buClr>
              <a:buSzPts val="2400"/>
              <a:buFont typeface="Cambria"/>
              <a:buNone/>
            </a:pPr>
            <a:r>
              <a:rPr b="1" i="0" lang="en-US" sz="2400" u="none" cap="none" strike="noStrike">
                <a:solidFill>
                  <a:srgbClr val="A0670A"/>
                </a:solidFill>
                <a:latin typeface="Cambria"/>
                <a:ea typeface="Cambria"/>
                <a:cs typeface="Cambria"/>
                <a:sym typeface="Cambria"/>
              </a:rPr>
              <a:t>Stop doing</a:t>
            </a:r>
            <a:endParaRPr b="0" i="0" sz="2400" u="none" cap="none" strike="noStrike">
              <a:solidFill>
                <a:schemeClr val="dk1"/>
              </a:solidFill>
              <a:latin typeface="Calibri"/>
              <a:ea typeface="Calibri"/>
              <a:cs typeface="Calibri"/>
              <a:sym typeface="Calibri"/>
            </a:endParaRPr>
          </a:p>
        </p:txBody>
      </p:sp>
      <p:sp>
        <p:nvSpPr>
          <p:cNvPr id="107" name="Google Shape;107;p8"/>
          <p:cNvSpPr txBox="1"/>
          <p:nvPr/>
        </p:nvSpPr>
        <p:spPr>
          <a:xfrm>
            <a:off x="4572000" y="2240280"/>
            <a:ext cx="3017520" cy="29260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Logging tickets after work is done</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Leaving tickets without points</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Building features before we know they’re wanted</a:t>
            </a:r>
            <a:endParaRPr b="0" i="0" sz="1700" u="none" cap="none" strike="noStrike">
              <a:solidFill>
                <a:schemeClr val="dk1"/>
              </a:solidFill>
              <a:latin typeface="Calibri"/>
              <a:ea typeface="Calibri"/>
              <a:cs typeface="Calibri"/>
              <a:sym typeface="Calibri"/>
            </a:endParaRPr>
          </a:p>
        </p:txBody>
      </p:sp>
      <p:sp>
        <p:nvSpPr>
          <p:cNvPr id="108" name="Google Shape;108;p8"/>
          <p:cNvSpPr/>
          <p:nvPr/>
        </p:nvSpPr>
        <p:spPr>
          <a:xfrm>
            <a:off x="8046720" y="1371600"/>
            <a:ext cx="3566160" cy="4023360"/>
          </a:xfrm>
          <a:prstGeom prst="roundRect">
            <a:avLst>
              <a:gd fmla="val 3077" name="adj"/>
            </a:avLst>
          </a:prstGeom>
          <a:solidFill>
            <a:srgbClr val="E6EEF6"/>
          </a:solidFill>
          <a:ln cap="flat" cmpd="sng" w="12700">
            <a:solidFill>
              <a:srgbClr val="E6EE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txBox="1"/>
          <p:nvPr/>
        </p:nvSpPr>
        <p:spPr>
          <a:xfrm>
            <a:off x="8321040" y="1554480"/>
            <a:ext cx="3017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A"/>
              </a:buClr>
              <a:buSzPts val="2400"/>
              <a:buFont typeface="Cambria"/>
              <a:buNone/>
            </a:pPr>
            <a:r>
              <a:rPr b="1" i="0" lang="en-US" sz="2400" u="none" cap="none" strike="noStrike">
                <a:solidFill>
                  <a:srgbClr val="2F5D8A"/>
                </a:solidFill>
                <a:latin typeface="Cambria"/>
                <a:ea typeface="Cambria"/>
                <a:cs typeface="Cambria"/>
                <a:sym typeface="Cambria"/>
              </a:rPr>
              <a:t>Start doing</a:t>
            </a:r>
            <a:endParaRPr b="0" i="0" sz="2400" u="none" cap="none" strike="noStrike">
              <a:solidFill>
                <a:schemeClr val="dk1"/>
              </a:solidFill>
              <a:latin typeface="Calibri"/>
              <a:ea typeface="Calibri"/>
              <a:cs typeface="Calibri"/>
              <a:sym typeface="Calibri"/>
            </a:endParaRPr>
          </a:p>
        </p:txBody>
      </p:sp>
      <p:sp>
        <p:nvSpPr>
          <p:cNvPr id="110" name="Google Shape;110;p8"/>
          <p:cNvSpPr txBox="1"/>
          <p:nvPr/>
        </p:nvSpPr>
        <p:spPr>
          <a:xfrm>
            <a:off x="8321040" y="2240280"/>
            <a:ext cx="3017520" cy="29260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Create a Jira ticket before starting any task</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Post meeting notes in Slack the same day</a:t>
            </a:r>
            <a:endParaRPr b="0" i="0" sz="17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b="0" i="0" lang="en-US" sz="1700" u="none" cap="none" strike="noStrike">
                <a:solidFill>
                  <a:srgbClr val="1F2A24"/>
                </a:solidFill>
                <a:latin typeface="Calibri"/>
                <a:ea typeface="Calibri"/>
                <a:cs typeface="Calibri"/>
                <a:sym typeface="Calibri"/>
              </a:rPr>
              <a:t>Split points so the burndown moves daily</a:t>
            </a:r>
            <a:endParaRPr b="0" i="0" sz="1700" u="none" cap="none" strike="noStrike">
              <a:solidFill>
                <a:srgbClr val="1F2A24"/>
              </a:solidFill>
              <a:latin typeface="Calibri"/>
              <a:ea typeface="Calibri"/>
              <a:cs typeface="Calibri"/>
              <a:sym typeface="Calibri"/>
            </a:endParaRPr>
          </a:p>
          <a:p>
            <a:pPr indent="-342900" lvl="0" marL="342900" marR="0" rtl="0" algn="l">
              <a:spcBef>
                <a:spcPts val="1400"/>
              </a:spcBef>
              <a:spcAft>
                <a:spcPts val="0"/>
              </a:spcAft>
              <a:buClr>
                <a:srgbClr val="1F2A24"/>
              </a:buClr>
              <a:buSzPts val="1700"/>
              <a:buFont typeface="Calibri"/>
              <a:buChar char="•"/>
            </a:pPr>
            <a:r>
              <a:rPr lang="en-US" sz="1700">
                <a:solidFill>
                  <a:srgbClr val="1F2A24"/>
                </a:solidFill>
                <a:latin typeface="Calibri"/>
                <a:ea typeface="Calibri"/>
                <a:cs typeface="Calibri"/>
                <a:sym typeface="Calibri"/>
              </a:rPr>
              <a:t>Formalized Sprint [X] Goal Posted in Jira</a:t>
            </a:r>
            <a:endParaRPr sz="1700">
              <a:solidFill>
                <a:srgbClr val="1F2A24"/>
              </a:solidFill>
              <a:latin typeface="Calibri"/>
              <a:ea typeface="Calibri"/>
              <a:cs typeface="Calibri"/>
              <a:sym typeface="Calibri"/>
            </a:endParaRPr>
          </a:p>
        </p:txBody>
      </p:sp>
      <p:sp>
        <p:nvSpPr>
          <p:cNvPr id="111" name="Google Shape;111;p8"/>
          <p:cNvSpPr/>
          <p:nvPr/>
        </p:nvSpPr>
        <p:spPr>
          <a:xfrm>
            <a:off x="548640" y="5623560"/>
            <a:ext cx="11064240" cy="777240"/>
          </a:xfrm>
          <a:prstGeom prst="roundRect">
            <a:avLst>
              <a:gd fmla="val 14118" name="adj"/>
            </a:avLst>
          </a:prstGeom>
          <a:solidFill>
            <a:srgbClr val="154734"/>
          </a:solidFill>
          <a:ln cap="flat" cmpd="sng" w="12700">
            <a:solidFill>
              <a:srgbClr val="1547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8"/>
          <p:cNvSpPr txBox="1"/>
          <p:nvPr/>
        </p:nvSpPr>
        <p:spPr>
          <a:xfrm>
            <a:off x="822960" y="5623560"/>
            <a:ext cx="106070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D48B"/>
              </a:buClr>
              <a:buSzPts val="1600"/>
              <a:buFont typeface="Calibri"/>
              <a:buNone/>
            </a:pPr>
            <a:r>
              <a:rPr b="1" i="0" lang="en-US" sz="1600" u="none" cap="none" strike="noStrike">
                <a:solidFill>
                  <a:srgbClr val="F3D48B"/>
                </a:solidFill>
                <a:latin typeface="Calibri"/>
                <a:ea typeface="Calibri"/>
                <a:cs typeface="Calibri"/>
                <a:sym typeface="Calibri"/>
              </a:rPr>
              <a:t>Action item for Sprint 2:  </a:t>
            </a:r>
            <a:r>
              <a:rPr b="0" i="0" lang="en-US" sz="1600" u="none" cap="none" strike="noStrike">
                <a:solidFill>
                  <a:srgbClr val="FFFFFF"/>
                </a:solidFill>
                <a:latin typeface="Calibri"/>
                <a:ea typeface="Calibri"/>
                <a:cs typeface="Calibri"/>
                <a:sym typeface="Calibri"/>
              </a:rPr>
              <a:t>every task gets a pointed Jira ticket at planning, and the board is updated before each standup.</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9"/>
          <p:cNvSpPr txBox="1"/>
          <p:nvPr/>
        </p:nvSpPr>
        <p:spPr>
          <a:xfrm>
            <a:off x="548640" y="365760"/>
            <a:ext cx="109728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3600"/>
              <a:buFont typeface="Cambria"/>
              <a:buNone/>
            </a:pPr>
            <a:r>
              <a:rPr b="1" lang="en-US" sz="3600">
                <a:solidFill>
                  <a:srgbClr val="154734"/>
                </a:solidFill>
                <a:latin typeface="Cambria"/>
                <a:ea typeface="Cambria"/>
                <a:cs typeface="Cambria"/>
                <a:sym typeface="Cambria"/>
              </a:rPr>
              <a:t>Next Sprint Tasks</a:t>
            </a:r>
            <a:endParaRPr b="0" i="0" sz="3600" u="none" cap="none" strike="noStrike">
              <a:solidFill>
                <a:schemeClr val="dk1"/>
              </a:solidFill>
              <a:latin typeface="Calibri"/>
              <a:ea typeface="Calibri"/>
              <a:cs typeface="Calibri"/>
              <a:sym typeface="Calibri"/>
            </a:endParaRPr>
          </a:p>
        </p:txBody>
      </p:sp>
      <p:sp>
        <p:nvSpPr>
          <p:cNvPr id="119" name="Google Shape;119;p9"/>
          <p:cNvSpPr/>
          <p:nvPr/>
        </p:nvSpPr>
        <p:spPr>
          <a:xfrm>
            <a:off x="548671" y="1371600"/>
            <a:ext cx="11048100" cy="4023300"/>
          </a:xfrm>
          <a:prstGeom prst="roundRect">
            <a:avLst>
              <a:gd fmla="val 3077" name="adj"/>
            </a:avLst>
          </a:prstGeom>
          <a:solidFill>
            <a:srgbClr val="EAF2EC"/>
          </a:solidFill>
          <a:ln cap="flat" cmpd="sng" w="12700">
            <a:solidFill>
              <a:srgbClr val="EAF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txBox="1"/>
          <p:nvPr/>
        </p:nvSpPr>
        <p:spPr>
          <a:xfrm>
            <a:off x="1398541" y="1554480"/>
            <a:ext cx="934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2400"/>
              <a:buFont typeface="Cambria"/>
              <a:buNone/>
            </a:pPr>
            <a:r>
              <a:rPr b="1" lang="en-US" sz="2400">
                <a:solidFill>
                  <a:srgbClr val="154734"/>
                </a:solidFill>
                <a:latin typeface="Cambria"/>
                <a:ea typeface="Cambria"/>
                <a:cs typeface="Cambria"/>
                <a:sym typeface="Cambria"/>
              </a:rPr>
              <a:t>Continue meeting with stakeholders</a:t>
            </a:r>
            <a:endParaRPr b="0" i="0" sz="2400" u="none" cap="none" strike="noStrike">
              <a:solidFill>
                <a:schemeClr val="dk1"/>
              </a:solidFill>
              <a:latin typeface="Calibri"/>
              <a:ea typeface="Calibri"/>
              <a:cs typeface="Calibri"/>
              <a:sym typeface="Calibri"/>
            </a:endParaRPr>
          </a:p>
        </p:txBody>
      </p:sp>
      <p:sp>
        <p:nvSpPr>
          <p:cNvPr id="121" name="Google Shape;121;p9"/>
          <p:cNvSpPr txBox="1"/>
          <p:nvPr/>
        </p:nvSpPr>
        <p:spPr>
          <a:xfrm>
            <a:off x="1398541" y="2240280"/>
            <a:ext cx="9348300" cy="2926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F2A24"/>
              </a:buClr>
              <a:buSzPts val="1700"/>
              <a:buFont typeface="Calibri"/>
              <a:buChar char="•"/>
            </a:pPr>
            <a:r>
              <a:rPr lang="en-US" sz="1700">
                <a:solidFill>
                  <a:srgbClr val="1F2A24"/>
                </a:solidFill>
                <a:latin typeface="Calibri"/>
                <a:ea typeface="Calibri"/>
                <a:cs typeface="Calibri"/>
                <a:sym typeface="Calibri"/>
              </a:rPr>
              <a:t>F</a:t>
            </a:r>
            <a:r>
              <a:rPr b="0" i="0" lang="en-US" sz="1700" u="none" cap="none" strike="noStrike">
                <a:solidFill>
                  <a:srgbClr val="1F2A24"/>
                </a:solidFill>
                <a:latin typeface="Calibri"/>
                <a:ea typeface="Calibri"/>
                <a:cs typeface="Calibri"/>
                <a:sym typeface="Calibri"/>
              </a:rPr>
              <a:t>ocus on </a:t>
            </a:r>
            <a:r>
              <a:rPr lang="en-US" sz="1700">
                <a:solidFill>
                  <a:srgbClr val="1F2A24"/>
                </a:solidFill>
                <a:latin typeface="Calibri"/>
                <a:ea typeface="Calibri"/>
                <a:cs typeface="Calibri"/>
                <a:sym typeface="Calibri"/>
              </a:rPr>
              <a:t>other CENG departments (CSSE and CPE already done)</a:t>
            </a:r>
            <a:endParaRPr sz="1700">
              <a:solidFill>
                <a:srgbClr val="1F2A24"/>
              </a:solidFill>
              <a:latin typeface="Calibri"/>
              <a:ea typeface="Calibri"/>
              <a:cs typeface="Calibri"/>
              <a:sym typeface="Calibri"/>
            </a:endParaRPr>
          </a:p>
          <a:p>
            <a:pPr indent="-342900" lvl="0" marL="342900" marR="0" rtl="0" algn="l">
              <a:spcBef>
                <a:spcPts val="0"/>
              </a:spcBef>
              <a:spcAft>
                <a:spcPts val="0"/>
              </a:spcAft>
              <a:buClr>
                <a:srgbClr val="1F2A24"/>
              </a:buClr>
              <a:buSzPts val="1700"/>
              <a:buFont typeface="Calibri"/>
              <a:buChar char="•"/>
            </a:pPr>
            <a:r>
              <a:rPr lang="en-US" sz="1700">
                <a:solidFill>
                  <a:srgbClr val="1F2A24"/>
                </a:solidFill>
                <a:latin typeface="Calibri"/>
                <a:ea typeface="Calibri"/>
                <a:cs typeface="Calibri"/>
                <a:sym typeface="Calibri"/>
              </a:rPr>
              <a:t>Try to get buy in from them so we can became a more integrated part of this process</a:t>
            </a:r>
            <a:endParaRPr sz="1700">
              <a:solidFill>
                <a:srgbClr val="1F2A24"/>
              </a:solidFill>
              <a:latin typeface="Calibri"/>
              <a:ea typeface="Calibri"/>
              <a:cs typeface="Calibri"/>
              <a:sym typeface="Calibri"/>
            </a:endParaRPr>
          </a:p>
          <a:p>
            <a:pPr indent="0" lvl="0" marL="0" marR="0" rtl="0" algn="l">
              <a:spcBef>
                <a:spcPts val="1400"/>
              </a:spcBef>
              <a:spcAft>
                <a:spcPts val="0"/>
              </a:spcAft>
              <a:buNone/>
            </a:pPr>
            <a:r>
              <a:t/>
            </a:r>
            <a:endParaRPr sz="1700">
              <a:solidFill>
                <a:schemeClr val="dk1"/>
              </a:solidFill>
              <a:latin typeface="Calibri"/>
              <a:ea typeface="Calibri"/>
              <a:cs typeface="Calibri"/>
              <a:sym typeface="Calibri"/>
            </a:endParaRPr>
          </a:p>
          <a:p>
            <a:pPr indent="0" lvl="0" marL="0" marR="0" rtl="0" algn="l">
              <a:spcBef>
                <a:spcPts val="1400"/>
              </a:spcBef>
              <a:spcAft>
                <a:spcPts val="0"/>
              </a:spcAft>
              <a:buNone/>
            </a:pPr>
            <a:r>
              <a:t/>
            </a:r>
            <a:endParaRPr sz="1700">
              <a:solidFill>
                <a:schemeClr val="dk1"/>
              </a:solidFill>
              <a:latin typeface="Calibri"/>
              <a:ea typeface="Calibri"/>
              <a:cs typeface="Calibri"/>
              <a:sym typeface="Calibri"/>
            </a:endParaRPr>
          </a:p>
          <a:p>
            <a:pPr indent="-342900" lvl="0" marL="342900" rtl="0" algn="l">
              <a:spcBef>
                <a:spcPts val="0"/>
              </a:spcBef>
              <a:spcAft>
                <a:spcPts val="0"/>
              </a:spcAft>
              <a:buClr>
                <a:srgbClr val="1F2A24"/>
              </a:buClr>
              <a:buSzPts val="1700"/>
              <a:buFont typeface="Calibri"/>
              <a:buChar char="•"/>
            </a:pPr>
            <a:r>
              <a:rPr lang="en-US" sz="1700">
                <a:solidFill>
                  <a:srgbClr val="1F2A24"/>
                </a:solidFill>
                <a:latin typeface="Calibri"/>
                <a:ea typeface="Calibri"/>
                <a:cs typeface="Calibri"/>
                <a:sym typeface="Calibri"/>
              </a:rPr>
              <a:t>Adapt </a:t>
            </a:r>
            <a:r>
              <a:rPr lang="en-US" sz="1700">
                <a:solidFill>
                  <a:srgbClr val="1F2A24"/>
                </a:solidFill>
                <a:latin typeface="Calibri"/>
                <a:ea typeface="Calibri"/>
                <a:cs typeface="Calibri"/>
                <a:sym typeface="Calibri"/>
              </a:rPr>
              <a:t>web scraper</a:t>
            </a:r>
            <a:r>
              <a:rPr lang="en-US" sz="1700">
                <a:solidFill>
                  <a:srgbClr val="1F2A24"/>
                </a:solidFill>
                <a:latin typeface="Calibri"/>
                <a:ea typeface="Calibri"/>
                <a:cs typeface="Calibri"/>
                <a:sym typeface="Calibri"/>
              </a:rPr>
              <a:t> to </a:t>
            </a:r>
            <a:r>
              <a:rPr lang="en-US" sz="1700">
                <a:solidFill>
                  <a:srgbClr val="1F2A24"/>
                </a:solidFill>
                <a:latin typeface="Calibri"/>
                <a:ea typeface="Calibri"/>
                <a:cs typeface="Calibri"/>
                <a:sym typeface="Calibri"/>
              </a:rPr>
              <a:t>web scrape</a:t>
            </a:r>
            <a:r>
              <a:rPr lang="en-US" sz="1700">
                <a:solidFill>
                  <a:srgbClr val="1F2A24"/>
                </a:solidFill>
                <a:latin typeface="Calibri"/>
                <a:ea typeface="Calibri"/>
                <a:cs typeface="Calibri"/>
                <a:sym typeface="Calibri"/>
              </a:rPr>
              <a:t> every CENG department</a:t>
            </a:r>
            <a:endParaRPr sz="1700">
              <a:solidFill>
                <a:srgbClr val="1F2A24"/>
              </a:solidFill>
              <a:latin typeface="Calibri"/>
              <a:ea typeface="Calibri"/>
              <a:cs typeface="Calibri"/>
              <a:sym typeface="Calibri"/>
            </a:endParaRPr>
          </a:p>
          <a:p>
            <a:pPr indent="-342900" lvl="0" marL="342900" rtl="0" algn="l">
              <a:spcBef>
                <a:spcPts val="0"/>
              </a:spcBef>
              <a:spcAft>
                <a:spcPts val="0"/>
              </a:spcAft>
              <a:buClr>
                <a:srgbClr val="1F2A24"/>
              </a:buClr>
              <a:buSzPts val="1700"/>
              <a:buFont typeface="Calibri"/>
              <a:buChar char="•"/>
            </a:pPr>
            <a:r>
              <a:rPr lang="en-US" sz="1700">
                <a:solidFill>
                  <a:srgbClr val="1F2A24"/>
                </a:solidFill>
                <a:latin typeface="Calibri"/>
                <a:ea typeface="Calibri"/>
                <a:cs typeface="Calibri"/>
                <a:sym typeface="Calibri"/>
              </a:rPr>
              <a:t>Tooling for professors to find optimal times to hold office hours</a:t>
            </a:r>
            <a:endParaRPr sz="1700">
              <a:solidFill>
                <a:srgbClr val="1F2A24"/>
              </a:solidFill>
              <a:latin typeface="Calibri"/>
              <a:ea typeface="Calibri"/>
              <a:cs typeface="Calibri"/>
              <a:sym typeface="Calibri"/>
            </a:endParaRPr>
          </a:p>
          <a:p>
            <a:pPr indent="-342900" lvl="0" marL="342900" rtl="0" algn="l">
              <a:spcBef>
                <a:spcPts val="0"/>
              </a:spcBef>
              <a:spcAft>
                <a:spcPts val="0"/>
              </a:spcAft>
              <a:buClr>
                <a:srgbClr val="1F2A24"/>
              </a:buClr>
              <a:buSzPts val="1700"/>
              <a:buFont typeface="Calibri"/>
              <a:buChar char="•"/>
            </a:pPr>
            <a:r>
              <a:rPr lang="en-US" sz="1700">
                <a:solidFill>
                  <a:srgbClr val="1F2A24"/>
                </a:solidFill>
                <a:latin typeface="Calibri"/>
                <a:ea typeface="Calibri"/>
                <a:cs typeface="Calibri"/>
                <a:sym typeface="Calibri"/>
              </a:rPr>
              <a:t>Automatic updates from forms -&gt; website</a:t>
            </a:r>
            <a:endParaRPr sz="1700">
              <a:solidFill>
                <a:srgbClr val="1F2A24"/>
              </a:solidFill>
              <a:latin typeface="Calibri"/>
              <a:ea typeface="Calibri"/>
              <a:cs typeface="Calibri"/>
              <a:sym typeface="Calibri"/>
            </a:endParaRPr>
          </a:p>
          <a:p>
            <a:pPr indent="0" lvl="0" marL="0" marR="0" rtl="0" algn="l">
              <a:spcBef>
                <a:spcPts val="1400"/>
              </a:spcBef>
              <a:spcAft>
                <a:spcPts val="0"/>
              </a:spcAft>
              <a:buNone/>
            </a:pPr>
            <a:r>
              <a:t/>
            </a:r>
            <a:endParaRPr sz="1700">
              <a:solidFill>
                <a:schemeClr val="dk1"/>
              </a:solidFill>
              <a:latin typeface="Calibri"/>
              <a:ea typeface="Calibri"/>
              <a:cs typeface="Calibri"/>
              <a:sym typeface="Calibri"/>
            </a:endParaRPr>
          </a:p>
        </p:txBody>
      </p:sp>
      <p:sp>
        <p:nvSpPr>
          <p:cNvPr id="122" name="Google Shape;122;p9"/>
          <p:cNvSpPr txBox="1"/>
          <p:nvPr/>
        </p:nvSpPr>
        <p:spPr>
          <a:xfrm>
            <a:off x="1421841" y="3023080"/>
            <a:ext cx="934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4734"/>
              </a:buClr>
              <a:buSzPts val="2400"/>
              <a:buFont typeface="Cambria"/>
              <a:buNone/>
            </a:pPr>
            <a:r>
              <a:rPr b="1" lang="en-US" sz="2400">
                <a:solidFill>
                  <a:srgbClr val="154734"/>
                </a:solidFill>
                <a:latin typeface="Cambria"/>
                <a:ea typeface="Cambria"/>
                <a:cs typeface="Cambria"/>
                <a:sym typeface="Cambria"/>
              </a:rPr>
              <a:t>Work on more features to showcase to stakeholders</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